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notesSlide1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pt-BR" sz="1800" spc="-1" strike="noStrike">
                <a:solidFill>
                  <a:schemeClr val="dk1"/>
                </a:solidFill>
                <a:latin typeface="Calibri"/>
              </a:rPr>
              <a:t>Clique para mover o slide</a:t>
            </a:r>
            <a:endParaRPr b="0" lang="pt-B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Clique para editar o formato de notas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&lt;cabeçalho&gt;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914A134-F8D4-400C-B6BA-E15820FE1FF5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B825FEE-E3BB-49F8-95CF-54A1A92CC22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55E32C8-B9B5-4EDD-A55C-F032158CCEC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D92573-BCFE-4768-8093-FA52BDD54CE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5DBDAE-9BB1-43FD-8002-2210665591F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9C50E8C-9CEA-4A25-B605-26423408C92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193D80-23D4-4B69-A29E-23913824F33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43F94EA-2ECE-4D1F-911F-BFA9438DE11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B03800-8FAC-4762-BD1B-33A6240080C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4BBBA5-2D7E-4CD1-820D-DA6E1D40560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D22FCC-AB41-4254-843A-67C8CA32A49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7286AA-B2AA-4FBC-A52A-DA2784CDD24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5CCB11-AF21-462F-8DB3-C35ECFF7E36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229CBAF-ED12-45A3-B49F-A3FD9B971A2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72E28A-A084-4A0D-B5E8-C2F9A16FCE7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795F6AC-3621-46E3-91AA-4C053FF5CC1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37126A-F7B9-4D65-811F-94114B0BC94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C5DDD5-2FED-42CD-BF93-4EE774300FB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chemeClr val="dk1"/>
                </a:solidFill>
                <a:latin typeface="Calibri"/>
              </a:rPr>
              <a:t>Clique para editar o formato do texto do título</a:t>
            </a:r>
            <a:endParaRPr b="0" lang="pt-B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49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chemeClr val="dk1"/>
                </a:solidFill>
                <a:latin typeface="Calibri"/>
              </a:rPr>
              <a:t>Clique para editar o formato de texto dos tópicos</a:t>
            </a:r>
            <a:endParaRPr b="0" lang="pt-BR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chemeClr val="dk1"/>
                </a:solidFill>
                <a:latin typeface="Calibri"/>
              </a:rPr>
              <a:t>2.º nível de tópicos</a:t>
            </a:r>
            <a:endParaRPr b="0" lang="pt-BR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chemeClr val="dk1"/>
                </a:solidFill>
                <a:latin typeface="Calibri"/>
              </a:rPr>
              <a:t>3.º nível de tópicos</a:t>
            </a:r>
            <a:endParaRPr b="0" lang="pt-BR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chemeClr val="dk1"/>
                </a:solidFill>
                <a:latin typeface="Calibri"/>
              </a:rPr>
              <a:t>4.º nível de tópicos</a:t>
            </a:r>
            <a:endParaRPr b="0" lang="pt-BR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chemeClr val="dk1"/>
                </a:solidFill>
                <a:latin typeface="Calibri"/>
              </a:rPr>
              <a:t>5.º nível de tópicos</a:t>
            </a:r>
            <a:endParaRPr b="0" lang="pt-BR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chemeClr val="dk1"/>
                </a:solidFill>
                <a:latin typeface="Calibri"/>
              </a:rPr>
              <a:t>6.º nível de tópicos</a:t>
            </a:r>
            <a:endParaRPr b="0" lang="pt-BR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chemeClr val="dk1"/>
                </a:solidFill>
                <a:latin typeface="Calibri"/>
              </a:rPr>
              <a:t>7.º nível de tópicos</a:t>
            </a:r>
            <a:endParaRPr b="0" lang="pt-BR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30280" y="662040"/>
            <a:ext cx="8083080" cy="15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2376"/>
              </a:lnSpc>
              <a:tabLst>
                <a:tab algn="l" pos="0"/>
              </a:tabLst>
            </a:pPr>
            <a:r>
              <a:rPr b="0" lang="en-US" sz="82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🧬</a:t>
            </a:r>
            <a:endParaRPr b="0" lang="pt-BR" sz="8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609480" y="2386080"/>
            <a:ext cx="792432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6480"/>
              </a:lnSpc>
              <a:tabLst>
                <a:tab algn="l" pos="0"/>
              </a:tabLst>
            </a:pPr>
            <a:r>
              <a:rPr b="1" lang="en-US" sz="4320" spc="-1" strike="noStrike">
                <a:solidFill>
                  <a:srgbClr val="2563eb"/>
                </a:solidFill>
                <a:latin typeface="Fraunces"/>
                <a:ea typeface="Fraunces"/>
              </a:rPr>
              <a:t>Aula 3 — Uso do Colab e Introdução à Transcriptômica</a:t>
            </a:r>
            <a:endParaRPr b="0" lang="pt-BR" sz="4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530280" y="4184280"/>
            <a:ext cx="808308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341"/>
              </a:lnSpc>
              <a:tabLst>
                <a:tab algn="l" pos="0"/>
              </a:tabLst>
            </a:pPr>
            <a:r>
              <a:rPr b="0" lang="en-US" sz="1560" spc="-1" strike="noStrike">
                <a:solidFill>
                  <a:srgbClr val="6b84a0"/>
                </a:solidFill>
                <a:latin typeface="-apple-system"/>
                <a:ea typeface="-apple-system"/>
              </a:rPr>
              <a:t>Genes fofocando com a gente (e com o R)</a:t>
            </a:r>
            <a:endParaRPr b="0" lang="pt-BR" sz="156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9170640" cy="5144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" descr=""/>
          <p:cNvPicPr/>
          <p:nvPr/>
        </p:nvPicPr>
        <p:blipFill>
          <a:blip r:embed="rId1"/>
          <a:stretch/>
        </p:blipFill>
        <p:spPr>
          <a:xfrm>
            <a:off x="8280" y="3960"/>
            <a:ext cx="9143640" cy="5142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" descr=""/>
          <p:cNvPicPr/>
          <p:nvPr/>
        </p:nvPicPr>
        <p:blipFill>
          <a:blip r:embed="rId1"/>
          <a:stretch/>
        </p:blipFill>
        <p:spPr>
          <a:xfrm>
            <a:off x="365400" y="132480"/>
            <a:ext cx="8429400" cy="4885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" descr=""/>
          <p:cNvPicPr/>
          <p:nvPr/>
        </p:nvPicPr>
        <p:blipFill>
          <a:blip r:embed="rId1"/>
          <a:stretch/>
        </p:blipFill>
        <p:spPr>
          <a:xfrm>
            <a:off x="32760" y="3600"/>
            <a:ext cx="9094680" cy="5143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762440" y="1400040"/>
            <a:ext cx="3771720" cy="2342880"/>
          </a:xfrm>
          <a:prstGeom prst="roundRect">
            <a:avLst>
              <a:gd name="adj" fmla="val 62439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" name="Text 1"/>
          <p:cNvSpPr/>
          <p:nvPr/>
        </p:nvSpPr>
        <p:spPr>
          <a:xfrm>
            <a:off x="609480" y="76320"/>
            <a:ext cx="38469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563eb"/>
                </a:solidFill>
                <a:latin typeface="-apple-system"/>
                <a:ea typeface="-apple-system"/>
              </a:rPr>
              <a:t>Conceito chave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609480" y="381240"/>
            <a:ext cx="3771720" cy="31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5040"/>
              </a:lnSpc>
              <a:tabLst>
                <a:tab algn="l" pos="0"/>
              </a:tabLst>
            </a:pPr>
            <a:r>
              <a:rPr b="1" lang="en-US" sz="3359" spc="-1" strike="noStrike">
                <a:solidFill>
                  <a:srgbClr val="10233f"/>
                </a:solidFill>
                <a:latin typeface="Fraunces"/>
                <a:ea typeface="Fraunces"/>
              </a:rPr>
              <a:t>Genoma é a receita, transcriptoma é o que tá sendo cozinhado agora</a:t>
            </a:r>
            <a:endParaRPr b="0" lang="pt-BR" sz="335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609480" y="3733560"/>
            <a:ext cx="377172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O DNA é fixo, igual em quase toda célula do seu corpo. Já o RNA (transcriptoma) muda a cada minuto — é o "story" da célula, mostrando o que ela está fazendo agora.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5045400" y="1714680"/>
            <a:ext cx="32058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4501"/>
              </a:lnSpc>
              <a:tabLst>
                <a:tab algn="l" pos="0"/>
              </a:tabLst>
            </a:pPr>
            <a:r>
              <a:rPr b="0" lang="en-US" sz="45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📖</a:t>
            </a:r>
            <a:endParaRPr b="0" lang="pt-BR" sz="4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5045400" y="2400480"/>
            <a:ext cx="3205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1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DNA = livro completo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5045400" y="2743200"/>
            <a:ext cx="320580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701"/>
              </a:lnSpc>
              <a:tabLst>
                <a:tab algn="l" pos="0"/>
              </a:tabLst>
            </a:pPr>
            <a:r>
              <a:rPr b="0" lang="en-US" sz="22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⬇️</a:t>
            </a:r>
            <a:endParaRPr b="0" lang="pt-BR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5045400" y="3162240"/>
            <a:ext cx="3205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1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RNA = página aberta agora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8820000" cy="5703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0"/>
          <p:cNvSpPr/>
          <p:nvPr/>
        </p:nvSpPr>
        <p:spPr>
          <a:xfrm>
            <a:off x="609480" y="1771560"/>
            <a:ext cx="3866760" cy="1314000"/>
          </a:xfrm>
          <a:prstGeom prst="roundRect">
            <a:avLst>
              <a:gd name="adj" fmla="val 111304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Text 1"/>
          <p:cNvSpPr/>
          <p:nvPr/>
        </p:nvSpPr>
        <p:spPr>
          <a:xfrm>
            <a:off x="4667400" y="1771560"/>
            <a:ext cx="3866760" cy="1314000"/>
          </a:xfrm>
          <a:prstGeom prst="roundRect">
            <a:avLst>
              <a:gd name="adj" fmla="val 111304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" name="Text 2"/>
          <p:cNvSpPr/>
          <p:nvPr/>
        </p:nvSpPr>
        <p:spPr>
          <a:xfrm>
            <a:off x="609480" y="3276720"/>
            <a:ext cx="3866760" cy="1314000"/>
          </a:xfrm>
          <a:prstGeom prst="roundRect">
            <a:avLst>
              <a:gd name="adj" fmla="val 111304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" name="Text 3"/>
          <p:cNvSpPr/>
          <p:nvPr/>
        </p:nvSpPr>
        <p:spPr>
          <a:xfrm>
            <a:off x="4667400" y="3276720"/>
            <a:ext cx="3866760" cy="1314000"/>
          </a:xfrm>
          <a:prstGeom prst="roundRect">
            <a:avLst>
              <a:gd name="adj" fmla="val 111304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" name="Text 4"/>
          <p:cNvSpPr/>
          <p:nvPr/>
        </p:nvSpPr>
        <p:spPr>
          <a:xfrm>
            <a:off x="609480" y="552600"/>
            <a:ext cx="8083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563eb"/>
                </a:solidFill>
                <a:latin typeface="-apple-system"/>
                <a:ea typeface="-apple-system"/>
              </a:rPr>
              <a:t>Agenda de hoje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5"/>
          <p:cNvSpPr/>
          <p:nvPr/>
        </p:nvSpPr>
        <p:spPr>
          <a:xfrm>
            <a:off x="609480" y="857160"/>
            <a:ext cx="808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54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0233f"/>
                </a:solidFill>
                <a:latin typeface="Fraunces"/>
                <a:ea typeface="Fraunces"/>
              </a:rPr>
              <a:t>O que </a:t>
            </a:r>
            <a:r>
              <a:rPr b="1" lang="en-US" sz="3600" spc="-1" strike="noStrike">
                <a:solidFill>
                  <a:srgbClr val="10233f"/>
                </a:solidFill>
                <a:latin typeface="Fraunces"/>
                <a:ea typeface="Fraunces"/>
              </a:rPr>
              <a:t>vamos </a:t>
            </a:r>
            <a:r>
              <a:rPr b="1" lang="en-US" sz="3600" spc="-1" strike="noStrike">
                <a:solidFill>
                  <a:srgbClr val="10233f"/>
                </a:solidFill>
                <a:latin typeface="Fraunces"/>
                <a:ea typeface="Fraunces"/>
              </a:rPr>
              <a:t>descobrir </a:t>
            </a:r>
            <a:r>
              <a:rPr b="1" lang="en-US" sz="3600" spc="-1" strike="noStrike">
                <a:solidFill>
                  <a:srgbClr val="10233f"/>
                </a:solidFill>
                <a:latin typeface="Fraunces"/>
                <a:ea typeface="Fraunces"/>
              </a:rPr>
              <a:t>juntos</a:t>
            </a:r>
            <a:endParaRPr b="0" lang="pt-B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6"/>
          <p:cNvSpPr/>
          <p:nvPr/>
        </p:nvSpPr>
        <p:spPr>
          <a:xfrm>
            <a:off x="847800" y="2009880"/>
            <a:ext cx="3458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🕵️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847800" y="2390760"/>
            <a:ext cx="345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Por que estudar 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transcriptômica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8"/>
          <p:cNvSpPr/>
          <p:nvPr/>
        </p:nvSpPr>
        <p:spPr>
          <a:xfrm>
            <a:off x="847800" y="2657520"/>
            <a:ext cx="34585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Aplicações reais, de remédio a 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diagnóstico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9"/>
          <p:cNvSpPr/>
          <p:nvPr/>
        </p:nvSpPr>
        <p:spPr>
          <a:xfrm>
            <a:off x="4905360" y="2009880"/>
            <a:ext cx="3458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🧪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4905360" y="2390760"/>
            <a:ext cx="345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O dataset "airway"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4905360" y="2657520"/>
            <a:ext cx="34585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Células de pulmão tratadas com remédio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12"/>
          <p:cNvSpPr/>
          <p:nvPr/>
        </p:nvSpPr>
        <p:spPr>
          <a:xfrm>
            <a:off x="847800" y="3514680"/>
            <a:ext cx="3458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⚙️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13"/>
          <p:cNvSpPr/>
          <p:nvPr/>
        </p:nvSpPr>
        <p:spPr>
          <a:xfrm>
            <a:off x="847800" y="3895560"/>
            <a:ext cx="345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P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i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p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e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li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n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e 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d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o 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D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E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S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e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q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2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14"/>
          <p:cNvSpPr/>
          <p:nvPr/>
        </p:nvSpPr>
        <p:spPr>
          <a:xfrm>
            <a:off x="847800" y="4162320"/>
            <a:ext cx="34585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P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a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s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s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o 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a 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p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a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s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s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o 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n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o 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n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o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te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b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o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o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k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15"/>
          <p:cNvSpPr/>
          <p:nvPr/>
        </p:nvSpPr>
        <p:spPr>
          <a:xfrm>
            <a:off x="4905360" y="3514680"/>
            <a:ext cx="3458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/>
            </a: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16"/>
          <p:cNvSpPr/>
          <p:nvPr/>
        </p:nvSpPr>
        <p:spPr>
          <a:xfrm>
            <a:off x="4905360" y="3895560"/>
            <a:ext cx="345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Lendo os resultados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17"/>
          <p:cNvSpPr/>
          <p:nvPr/>
        </p:nvSpPr>
        <p:spPr>
          <a:xfrm>
            <a:off x="4905360" y="4162320"/>
            <a:ext cx="34585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Gráficos e genes "suspeitos"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 0"/>
          <p:cNvSpPr/>
          <p:nvPr/>
        </p:nvSpPr>
        <p:spPr>
          <a:xfrm>
            <a:off x="609480" y="1553040"/>
            <a:ext cx="3847680" cy="2147400"/>
          </a:xfrm>
          <a:prstGeom prst="roundRect">
            <a:avLst>
              <a:gd name="adj" fmla="val 68115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" name="Text 1"/>
          <p:cNvSpPr/>
          <p:nvPr/>
        </p:nvSpPr>
        <p:spPr>
          <a:xfrm>
            <a:off x="2048040" y="2967480"/>
            <a:ext cx="132840" cy="366480"/>
          </a:xfrm>
          <a:prstGeom prst="roundRect">
            <a:avLst>
              <a:gd name="adj" fmla="val 274286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4" name="Text 2"/>
          <p:cNvSpPr/>
          <p:nvPr/>
        </p:nvSpPr>
        <p:spPr>
          <a:xfrm>
            <a:off x="2257560" y="3101040"/>
            <a:ext cx="132840" cy="232920"/>
          </a:xfrm>
          <a:prstGeom prst="roundRect">
            <a:avLst>
              <a:gd name="adj" fmla="val 274286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5" name="Text 3"/>
          <p:cNvSpPr/>
          <p:nvPr/>
        </p:nvSpPr>
        <p:spPr>
          <a:xfrm>
            <a:off x="2676600" y="3201120"/>
            <a:ext cx="132840" cy="132840"/>
          </a:xfrm>
          <a:prstGeom prst="roundRect">
            <a:avLst>
              <a:gd name="adj" fmla="val 274286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Text 4"/>
          <p:cNvSpPr/>
          <p:nvPr/>
        </p:nvSpPr>
        <p:spPr>
          <a:xfrm>
            <a:off x="2886120" y="3034440"/>
            <a:ext cx="132840" cy="299520"/>
          </a:xfrm>
          <a:prstGeom prst="roundRect">
            <a:avLst>
              <a:gd name="adj" fmla="val 274286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" name="Text 5"/>
          <p:cNvSpPr/>
          <p:nvPr/>
        </p:nvSpPr>
        <p:spPr>
          <a:xfrm>
            <a:off x="4686480" y="1553040"/>
            <a:ext cx="3847680" cy="2147400"/>
          </a:xfrm>
          <a:prstGeom prst="roundRect">
            <a:avLst>
              <a:gd name="adj" fmla="val 68115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8" name="Text 6"/>
          <p:cNvSpPr/>
          <p:nvPr/>
        </p:nvSpPr>
        <p:spPr>
          <a:xfrm>
            <a:off x="6124680" y="2734200"/>
            <a:ext cx="132840" cy="599760"/>
          </a:xfrm>
          <a:prstGeom prst="roundRect">
            <a:avLst>
              <a:gd name="adj" fmla="val 274286"/>
            </a:avLst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" name="Text 7"/>
          <p:cNvSpPr/>
          <p:nvPr/>
        </p:nvSpPr>
        <p:spPr>
          <a:xfrm>
            <a:off x="6334200" y="3134160"/>
            <a:ext cx="132840" cy="199800"/>
          </a:xfrm>
          <a:prstGeom prst="roundRect">
            <a:avLst>
              <a:gd name="adj" fmla="val 274286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" name="Text 8"/>
          <p:cNvSpPr/>
          <p:nvPr/>
        </p:nvSpPr>
        <p:spPr>
          <a:xfrm>
            <a:off x="6543720" y="3267720"/>
            <a:ext cx="132840" cy="66240"/>
          </a:xfrm>
          <a:prstGeom prst="roundRect">
            <a:avLst>
              <a:gd name="adj" fmla="val 548571"/>
            </a:avLst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1" name="Text 9"/>
          <p:cNvSpPr/>
          <p:nvPr/>
        </p:nvSpPr>
        <p:spPr>
          <a:xfrm>
            <a:off x="6753240" y="3187800"/>
            <a:ext cx="132840" cy="146160"/>
          </a:xfrm>
          <a:prstGeom prst="roundRect">
            <a:avLst>
              <a:gd name="adj" fmla="val 274286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2" name="Text 10"/>
          <p:cNvSpPr/>
          <p:nvPr/>
        </p:nvSpPr>
        <p:spPr>
          <a:xfrm>
            <a:off x="6962760" y="3014280"/>
            <a:ext cx="132840" cy="319680"/>
          </a:xfrm>
          <a:prstGeom prst="roundRect">
            <a:avLst>
              <a:gd name="adj" fmla="val 274286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3" name="Text 11"/>
          <p:cNvSpPr/>
          <p:nvPr/>
        </p:nvSpPr>
        <p:spPr>
          <a:xfrm>
            <a:off x="609480" y="3853440"/>
            <a:ext cx="7924320" cy="704520"/>
          </a:xfrm>
          <a:prstGeom prst="roundRect">
            <a:avLst>
              <a:gd name="adj" fmla="val 207568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Text 12"/>
          <p:cNvSpPr/>
          <p:nvPr/>
        </p:nvSpPr>
        <p:spPr>
          <a:xfrm>
            <a:off x="794520" y="4263120"/>
            <a:ext cx="114120" cy="114120"/>
          </a:xfrm>
          <a:prstGeom prst="roundRect">
            <a:avLst>
              <a:gd name="adj" fmla="val 240000"/>
            </a:avLst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Text 13"/>
          <p:cNvSpPr/>
          <p:nvPr/>
        </p:nvSpPr>
        <p:spPr>
          <a:xfrm>
            <a:off x="3417120" y="4263120"/>
            <a:ext cx="114120" cy="114120"/>
          </a:xfrm>
          <a:prstGeom prst="roundRect">
            <a:avLst>
              <a:gd name="adj" fmla="val 240000"/>
            </a:avLst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Text 14"/>
          <p:cNvSpPr/>
          <p:nvPr/>
        </p:nvSpPr>
        <p:spPr>
          <a:xfrm>
            <a:off x="5932080" y="4263120"/>
            <a:ext cx="114120" cy="114120"/>
          </a:xfrm>
          <a:prstGeom prst="roundRect">
            <a:avLst>
              <a:gd name="adj" fmla="val 240000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Text 15"/>
          <p:cNvSpPr/>
          <p:nvPr/>
        </p:nvSpPr>
        <p:spPr>
          <a:xfrm>
            <a:off x="609480" y="585360"/>
            <a:ext cx="8083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563eb"/>
                </a:solidFill>
                <a:latin typeface="-apple-system"/>
                <a:ea typeface="-apple-system"/>
              </a:rPr>
              <a:t>Do organismo ao gene diferencial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16"/>
          <p:cNvSpPr/>
          <p:nvPr/>
        </p:nvSpPr>
        <p:spPr>
          <a:xfrm>
            <a:off x="609480" y="852120"/>
            <a:ext cx="808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4320"/>
              </a:lnSpc>
              <a:tabLst>
                <a:tab algn="l" pos="0"/>
              </a:tabLst>
            </a:pPr>
            <a:r>
              <a:rPr b="1" lang="en-US" sz="2880" spc="-1" strike="noStrike">
                <a:solidFill>
                  <a:srgbClr val="10233f"/>
                </a:solidFill>
                <a:latin typeface="Fraunces"/>
                <a:ea typeface="Fraunces"/>
              </a:rPr>
              <a:t>Comparando dois transcriptomas na prática</a:t>
            </a:r>
            <a:endParaRPr b="0" lang="pt-BR" sz="2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17"/>
          <p:cNvSpPr/>
          <p:nvPr/>
        </p:nvSpPr>
        <p:spPr>
          <a:xfrm>
            <a:off x="775080" y="1753200"/>
            <a:ext cx="351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701"/>
              </a:lnSpc>
              <a:tabLst>
                <a:tab algn="l" pos="0"/>
              </a:tabLst>
            </a:pPr>
            <a:r>
              <a:rPr b="0" lang="en-US" sz="22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🌱</a:t>
            </a:r>
            <a:endParaRPr b="0" lang="pt-BR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18"/>
          <p:cNvSpPr/>
          <p:nvPr/>
        </p:nvSpPr>
        <p:spPr>
          <a:xfrm>
            <a:off x="775080" y="2134080"/>
            <a:ext cx="35164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Organismo controle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19"/>
          <p:cNvSpPr/>
          <p:nvPr/>
        </p:nvSpPr>
        <p:spPr>
          <a:xfrm>
            <a:off x="775080" y="2439000"/>
            <a:ext cx="35164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199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84a0"/>
                </a:solidFill>
                <a:latin typeface="-apple-system"/>
                <a:ea typeface="-apple-system"/>
              </a:rPr>
              <a:t>Reads sequenciados (por gene)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20"/>
          <p:cNvSpPr/>
          <p:nvPr/>
        </p:nvSpPr>
        <p:spPr>
          <a:xfrm>
            <a:off x="2078640" y="3372480"/>
            <a:ext cx="1231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012"/>
              </a:lnSpc>
              <a:tabLst>
                <a:tab algn="l" pos="0"/>
              </a:tabLst>
            </a:pPr>
            <a:r>
              <a:rPr b="0" lang="en-US" sz="670" spc="-1" strike="noStrike">
                <a:solidFill>
                  <a:srgbClr val="6b84a0"/>
                </a:solidFill>
                <a:latin typeface="-apple-system"/>
                <a:ea typeface="-apple-system"/>
              </a:rPr>
              <a:t>G1</a:t>
            </a:r>
            <a:endParaRPr b="0" lang="pt-BR" sz="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21"/>
          <p:cNvSpPr/>
          <p:nvPr/>
        </p:nvSpPr>
        <p:spPr>
          <a:xfrm>
            <a:off x="2275920" y="3372480"/>
            <a:ext cx="1231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012"/>
              </a:lnSpc>
              <a:tabLst>
                <a:tab algn="l" pos="0"/>
              </a:tabLst>
            </a:pPr>
            <a:r>
              <a:rPr b="0" lang="en-US" sz="670" spc="-1" strike="noStrike">
                <a:solidFill>
                  <a:srgbClr val="6b84a0"/>
                </a:solidFill>
                <a:latin typeface="-apple-system"/>
                <a:ea typeface="-apple-system"/>
              </a:rPr>
              <a:t>G2</a:t>
            </a:r>
            <a:endParaRPr b="0" lang="pt-BR" sz="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22"/>
          <p:cNvSpPr/>
          <p:nvPr/>
        </p:nvSpPr>
        <p:spPr>
          <a:xfrm>
            <a:off x="2473200" y="3372480"/>
            <a:ext cx="1231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012"/>
              </a:lnSpc>
              <a:tabLst>
                <a:tab algn="l" pos="0"/>
              </a:tabLst>
            </a:pPr>
            <a:r>
              <a:rPr b="0" lang="en-US" sz="670" spc="-1" strike="noStrike">
                <a:solidFill>
                  <a:srgbClr val="6b84a0"/>
                </a:solidFill>
                <a:latin typeface="-apple-system"/>
                <a:ea typeface="-apple-system"/>
              </a:rPr>
              <a:t>G3</a:t>
            </a:r>
            <a:endParaRPr b="0" lang="pt-BR" sz="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23"/>
          <p:cNvSpPr/>
          <p:nvPr/>
        </p:nvSpPr>
        <p:spPr>
          <a:xfrm>
            <a:off x="2670120" y="3372480"/>
            <a:ext cx="1231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012"/>
              </a:lnSpc>
              <a:tabLst>
                <a:tab algn="l" pos="0"/>
              </a:tabLst>
            </a:pPr>
            <a:r>
              <a:rPr b="0" lang="en-US" sz="670" spc="-1" strike="noStrike">
                <a:solidFill>
                  <a:srgbClr val="6b84a0"/>
                </a:solidFill>
                <a:latin typeface="-apple-system"/>
                <a:ea typeface="-apple-system"/>
              </a:rPr>
              <a:t>G4</a:t>
            </a:r>
            <a:endParaRPr b="0" lang="pt-BR" sz="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24"/>
          <p:cNvSpPr/>
          <p:nvPr/>
        </p:nvSpPr>
        <p:spPr>
          <a:xfrm>
            <a:off x="2867400" y="3372480"/>
            <a:ext cx="1231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012"/>
              </a:lnSpc>
              <a:tabLst>
                <a:tab algn="l" pos="0"/>
              </a:tabLst>
            </a:pPr>
            <a:r>
              <a:rPr b="0" lang="en-US" sz="670" spc="-1" strike="noStrike">
                <a:solidFill>
                  <a:srgbClr val="6b84a0"/>
                </a:solidFill>
                <a:latin typeface="-apple-system"/>
                <a:ea typeface="-apple-system"/>
              </a:rPr>
              <a:t>G5</a:t>
            </a:r>
            <a:endParaRPr b="0" lang="pt-BR" sz="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25"/>
          <p:cNvSpPr/>
          <p:nvPr/>
        </p:nvSpPr>
        <p:spPr>
          <a:xfrm>
            <a:off x="4851720" y="1753200"/>
            <a:ext cx="35164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701"/>
              </a:lnSpc>
              <a:tabLst>
                <a:tab algn="l" pos="0"/>
              </a:tabLst>
            </a:pPr>
            <a:r>
              <a:rPr b="0" lang="en-US" sz="22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🌿</a:t>
            </a:r>
            <a:endParaRPr b="0" lang="pt-BR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26"/>
          <p:cNvSpPr/>
          <p:nvPr/>
        </p:nvSpPr>
        <p:spPr>
          <a:xfrm>
            <a:off x="4851720" y="2134080"/>
            <a:ext cx="35164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Organismo tratado (estresse/fármaco)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27"/>
          <p:cNvSpPr/>
          <p:nvPr/>
        </p:nvSpPr>
        <p:spPr>
          <a:xfrm>
            <a:off x="4851720" y="2439000"/>
            <a:ext cx="35164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199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84a0"/>
                </a:solidFill>
                <a:latin typeface="-apple-system"/>
                <a:ea typeface="-apple-system"/>
              </a:rPr>
              <a:t>Reads sequenciados (por gene)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28"/>
          <p:cNvSpPr/>
          <p:nvPr/>
        </p:nvSpPr>
        <p:spPr>
          <a:xfrm>
            <a:off x="6155280" y="3372480"/>
            <a:ext cx="1231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012"/>
              </a:lnSpc>
              <a:tabLst>
                <a:tab algn="l" pos="0"/>
              </a:tabLst>
            </a:pPr>
            <a:r>
              <a:rPr b="0" lang="en-US" sz="670" spc="-1" strike="noStrike">
                <a:solidFill>
                  <a:srgbClr val="6b84a0"/>
                </a:solidFill>
                <a:latin typeface="-apple-system"/>
                <a:ea typeface="-apple-system"/>
              </a:rPr>
              <a:t>G1</a:t>
            </a:r>
            <a:endParaRPr b="0" lang="pt-BR" sz="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29"/>
          <p:cNvSpPr/>
          <p:nvPr/>
        </p:nvSpPr>
        <p:spPr>
          <a:xfrm>
            <a:off x="6352560" y="3372480"/>
            <a:ext cx="1231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012"/>
              </a:lnSpc>
              <a:tabLst>
                <a:tab algn="l" pos="0"/>
              </a:tabLst>
            </a:pPr>
            <a:r>
              <a:rPr b="0" lang="en-US" sz="670" spc="-1" strike="noStrike">
                <a:solidFill>
                  <a:srgbClr val="6b84a0"/>
                </a:solidFill>
                <a:latin typeface="-apple-system"/>
                <a:ea typeface="-apple-system"/>
              </a:rPr>
              <a:t>G2</a:t>
            </a:r>
            <a:endParaRPr b="0" lang="pt-BR" sz="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30"/>
          <p:cNvSpPr/>
          <p:nvPr/>
        </p:nvSpPr>
        <p:spPr>
          <a:xfrm>
            <a:off x="6549840" y="3372480"/>
            <a:ext cx="1231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012"/>
              </a:lnSpc>
              <a:tabLst>
                <a:tab algn="l" pos="0"/>
              </a:tabLst>
            </a:pPr>
            <a:r>
              <a:rPr b="0" lang="en-US" sz="670" spc="-1" strike="noStrike">
                <a:solidFill>
                  <a:srgbClr val="6b84a0"/>
                </a:solidFill>
                <a:latin typeface="-apple-system"/>
                <a:ea typeface="-apple-system"/>
              </a:rPr>
              <a:t>G3</a:t>
            </a:r>
            <a:endParaRPr b="0" lang="pt-BR" sz="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31"/>
          <p:cNvSpPr/>
          <p:nvPr/>
        </p:nvSpPr>
        <p:spPr>
          <a:xfrm>
            <a:off x="6747120" y="3372480"/>
            <a:ext cx="1231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012"/>
              </a:lnSpc>
              <a:tabLst>
                <a:tab algn="l" pos="0"/>
              </a:tabLst>
            </a:pPr>
            <a:r>
              <a:rPr b="0" lang="en-US" sz="670" spc="-1" strike="noStrike">
                <a:solidFill>
                  <a:srgbClr val="6b84a0"/>
                </a:solidFill>
                <a:latin typeface="-apple-system"/>
                <a:ea typeface="-apple-system"/>
              </a:rPr>
              <a:t>G4</a:t>
            </a:r>
            <a:endParaRPr b="0" lang="pt-BR" sz="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32"/>
          <p:cNvSpPr/>
          <p:nvPr/>
        </p:nvSpPr>
        <p:spPr>
          <a:xfrm>
            <a:off x="6944040" y="3372480"/>
            <a:ext cx="1231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012"/>
              </a:lnSpc>
              <a:tabLst>
                <a:tab algn="l" pos="0"/>
              </a:tabLst>
            </a:pPr>
            <a:r>
              <a:rPr b="0" lang="en-US" sz="670" spc="-1" strike="noStrike">
                <a:solidFill>
                  <a:srgbClr val="6b84a0"/>
                </a:solidFill>
                <a:latin typeface="-apple-system"/>
                <a:ea typeface="-apple-system"/>
              </a:rPr>
              <a:t>G5</a:t>
            </a:r>
            <a:endParaRPr b="0" lang="pt-BR" sz="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33"/>
          <p:cNvSpPr/>
          <p:nvPr/>
        </p:nvSpPr>
        <p:spPr>
          <a:xfrm>
            <a:off x="695520" y="4015440"/>
            <a:ext cx="77526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199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84a0"/>
                </a:solidFill>
                <a:latin typeface="-apple-system"/>
                <a:ea typeface="-apple-system"/>
              </a:rPr>
              <a:t>⬇️ </a:t>
            </a:r>
            <a:r>
              <a:rPr b="0" lang="en-US" sz="900" spc="-1" strike="noStrike">
                <a:solidFill>
                  <a:srgbClr val="6b84a0"/>
                </a:solidFill>
                <a:latin typeface="-apple-system"/>
                <a:ea typeface="-apple-system"/>
              </a:rPr>
              <a:t>DESeq2 compara cada gene entre os grupos ⬇️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34"/>
          <p:cNvSpPr/>
          <p:nvPr/>
        </p:nvSpPr>
        <p:spPr>
          <a:xfrm>
            <a:off x="984960" y="4244040"/>
            <a:ext cx="22471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Gene 1: sobe forte (padj &lt; 0.05) → </a:t>
            </a:r>
            <a:r>
              <a:rPr b="1" lang="en-US" sz="9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DE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35"/>
          <p:cNvSpPr/>
          <p:nvPr/>
        </p:nvSpPr>
        <p:spPr>
          <a:xfrm>
            <a:off x="3607560" y="4244040"/>
            <a:ext cx="2137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Gene 3: cai forte (padj &lt; 0.05) → </a:t>
            </a:r>
            <a:r>
              <a:rPr b="1" lang="en-US" sz="9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DE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36"/>
          <p:cNvSpPr/>
          <p:nvPr/>
        </p:nvSpPr>
        <p:spPr>
          <a:xfrm>
            <a:off x="6122520" y="4244040"/>
            <a:ext cx="22712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Genes 2, 4, 5: sem diferença relevante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/>
          <p:nvPr/>
        </p:nvSpPr>
        <p:spPr>
          <a:xfrm>
            <a:off x="609480" y="1924200"/>
            <a:ext cx="3866760" cy="1504440"/>
          </a:xfrm>
          <a:prstGeom prst="roundRect">
            <a:avLst>
              <a:gd name="adj" fmla="val 97215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0" name="Text 1"/>
          <p:cNvSpPr/>
          <p:nvPr/>
        </p:nvSpPr>
        <p:spPr>
          <a:xfrm>
            <a:off x="4667400" y="1924200"/>
            <a:ext cx="3866760" cy="1504440"/>
          </a:xfrm>
          <a:prstGeom prst="roundRect">
            <a:avLst>
              <a:gd name="adj" fmla="val 97215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1" name="Text 2"/>
          <p:cNvSpPr/>
          <p:nvPr/>
        </p:nvSpPr>
        <p:spPr>
          <a:xfrm>
            <a:off x="609480" y="3619440"/>
            <a:ext cx="3866760" cy="1504440"/>
          </a:xfrm>
          <a:prstGeom prst="roundRect">
            <a:avLst>
              <a:gd name="adj" fmla="val 97215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2" name="Text 3"/>
          <p:cNvSpPr/>
          <p:nvPr/>
        </p:nvSpPr>
        <p:spPr>
          <a:xfrm>
            <a:off x="4667400" y="3619440"/>
            <a:ext cx="3866760" cy="1504440"/>
          </a:xfrm>
          <a:prstGeom prst="roundRect">
            <a:avLst>
              <a:gd name="adj" fmla="val 97215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3" name="Text 4"/>
          <p:cNvSpPr/>
          <p:nvPr/>
        </p:nvSpPr>
        <p:spPr>
          <a:xfrm>
            <a:off x="609480" y="19080"/>
            <a:ext cx="8083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563eb"/>
                </a:solidFill>
                <a:latin typeface="-apple-system"/>
                <a:ea typeface="-apple-system"/>
              </a:rPr>
              <a:t>Pra que serve isso na vida real?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609480" y="324000"/>
            <a:ext cx="79243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54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0233f"/>
                </a:solidFill>
                <a:latin typeface="Fraunces"/>
                <a:ea typeface="Fraunces"/>
              </a:rPr>
              <a:t>4 exemplos que provam que não é só teoria</a:t>
            </a:r>
            <a:endParaRPr b="0" lang="pt-B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847800" y="2162160"/>
            <a:ext cx="3458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💊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7"/>
          <p:cNvSpPr/>
          <p:nvPr/>
        </p:nvSpPr>
        <p:spPr>
          <a:xfrm>
            <a:off x="847800" y="2543040"/>
            <a:ext cx="345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Descoberta de remédios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8"/>
          <p:cNvSpPr/>
          <p:nvPr/>
        </p:nvSpPr>
        <p:spPr>
          <a:xfrm>
            <a:off x="847800" y="2809800"/>
            <a:ext cx="33904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Ver quais genes um fármaco "liga" ou "desliga" nas células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9"/>
          <p:cNvSpPr/>
          <p:nvPr/>
        </p:nvSpPr>
        <p:spPr>
          <a:xfrm>
            <a:off x="4905360" y="2162160"/>
            <a:ext cx="3458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🦷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10"/>
          <p:cNvSpPr/>
          <p:nvPr/>
        </p:nvSpPr>
        <p:spPr>
          <a:xfrm>
            <a:off x="4905360" y="2543040"/>
            <a:ext cx="345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Odontologia e inflamação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11"/>
          <p:cNvSpPr/>
          <p:nvPr/>
        </p:nvSpPr>
        <p:spPr>
          <a:xfrm>
            <a:off x="4905360" y="2809800"/>
            <a:ext cx="33904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Entender genes ativados em gengivite ou periodontite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12"/>
          <p:cNvSpPr/>
          <p:nvPr/>
        </p:nvSpPr>
        <p:spPr>
          <a:xfrm>
            <a:off x="847800" y="3857760"/>
            <a:ext cx="3458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🎗️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13"/>
          <p:cNvSpPr/>
          <p:nvPr/>
        </p:nvSpPr>
        <p:spPr>
          <a:xfrm>
            <a:off x="847800" y="4238640"/>
            <a:ext cx="345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Câncer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14"/>
          <p:cNvSpPr/>
          <p:nvPr/>
        </p:nvSpPr>
        <p:spPr>
          <a:xfrm>
            <a:off x="847800" y="4505400"/>
            <a:ext cx="33904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Identificar genes hiperativos em tumores para terapias-alvo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15"/>
          <p:cNvSpPr/>
          <p:nvPr/>
        </p:nvSpPr>
        <p:spPr>
          <a:xfrm>
            <a:off x="4905360" y="3857760"/>
            <a:ext cx="3458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🌱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16"/>
          <p:cNvSpPr/>
          <p:nvPr/>
        </p:nvSpPr>
        <p:spPr>
          <a:xfrm>
            <a:off x="4905360" y="4238640"/>
            <a:ext cx="345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Agricultura e plantas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17"/>
          <p:cNvSpPr/>
          <p:nvPr/>
        </p:nvSpPr>
        <p:spPr>
          <a:xfrm>
            <a:off x="4905360" y="4505400"/>
            <a:ext cx="34585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Descobrir genes de resistência à seca ou pragas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4762440" y="981000"/>
            <a:ext cx="3771720" cy="3180960"/>
          </a:xfrm>
          <a:prstGeom prst="roundRect">
            <a:avLst>
              <a:gd name="adj" fmla="val 45988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8" name="Text 1"/>
          <p:cNvSpPr/>
          <p:nvPr/>
        </p:nvSpPr>
        <p:spPr>
          <a:xfrm>
            <a:off x="609480" y="849960"/>
            <a:ext cx="38469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563eb"/>
                </a:solidFill>
                <a:latin typeface="-apple-system"/>
                <a:ea typeface="-apple-system"/>
              </a:rPr>
              <a:t>Nossa ferramenta de hoje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2"/>
          <p:cNvSpPr/>
          <p:nvPr/>
        </p:nvSpPr>
        <p:spPr>
          <a:xfrm>
            <a:off x="609480" y="1154520"/>
            <a:ext cx="3771720" cy="19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5040"/>
              </a:lnSpc>
              <a:tabLst>
                <a:tab algn="l" pos="0"/>
              </a:tabLst>
            </a:pPr>
            <a:r>
              <a:rPr b="1" lang="en-US" sz="3359" spc="-1" strike="noStrike">
                <a:solidFill>
                  <a:srgbClr val="10233f"/>
                </a:solidFill>
                <a:latin typeface="Fraunces"/>
                <a:ea typeface="Fraunces"/>
              </a:rPr>
              <a:t>Google Colab: R e Python direto no </a:t>
            </a:r>
            <a:r>
              <a:rPr b="1" lang="en-US" sz="3359" spc="-1" strike="noStrike">
                <a:solidFill>
                  <a:srgbClr val="10233f"/>
                </a:solidFill>
                <a:latin typeface="Fraunces"/>
                <a:ea typeface="Fraunces"/>
              </a:rPr>
              <a:t>navegador</a:t>
            </a:r>
            <a:endParaRPr b="0" lang="pt-BR" sz="335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609480" y="3227040"/>
            <a:ext cx="377172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É um Jupyter Notebook na nuvem, gratuito, que já vem com bibliotecas de bioinformática instaláveis. Sem precisar instalar nada no seu computador!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5076720" y="1295280"/>
            <a:ext cx="3205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Como funciona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5076720" y="1638360"/>
            <a:ext cx="3142800" cy="22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🔗 </a:t>
            </a:r>
            <a:r>
              <a:rPr b="1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Acesse: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 colab.research.google.com com sua conta Google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▶️ </a:t>
            </a:r>
            <a:r>
              <a:rPr b="1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Células de código: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 clique no play ou Shift+Enter pra executar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📝 </a:t>
            </a:r>
            <a:r>
              <a:rPr b="1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Células de texto: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 markdown explicando cada passo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☁️ </a:t>
            </a:r>
            <a:r>
              <a:rPr b="1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Roda na nuvem: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 processamento no servidor do Google, não no seu PC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💾 </a:t>
            </a:r>
            <a:r>
              <a:rPr b="1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Salva no Drive: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 tudo integrado, sem perder o trabalho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609480" y="2428920"/>
            <a:ext cx="1493280" cy="1123560"/>
          </a:xfrm>
          <a:prstGeom prst="roundRect">
            <a:avLst>
              <a:gd name="adj" fmla="val 130169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2217240" y="2428920"/>
            <a:ext cx="1493280" cy="1123560"/>
          </a:xfrm>
          <a:prstGeom prst="roundRect">
            <a:avLst>
              <a:gd name="adj" fmla="val 130169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3825360" y="2428920"/>
            <a:ext cx="1493280" cy="1123560"/>
          </a:xfrm>
          <a:prstGeom prst="roundRect">
            <a:avLst>
              <a:gd name="adj" fmla="val 130169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6" name="Text 3"/>
          <p:cNvSpPr/>
          <p:nvPr/>
        </p:nvSpPr>
        <p:spPr>
          <a:xfrm>
            <a:off x="5433120" y="2428920"/>
            <a:ext cx="1493280" cy="1123560"/>
          </a:xfrm>
          <a:prstGeom prst="roundRect">
            <a:avLst>
              <a:gd name="adj" fmla="val 130169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7" name="Text 4"/>
          <p:cNvSpPr/>
          <p:nvPr/>
        </p:nvSpPr>
        <p:spPr>
          <a:xfrm>
            <a:off x="7040880" y="2428920"/>
            <a:ext cx="1493280" cy="1123560"/>
          </a:xfrm>
          <a:prstGeom prst="roundRect">
            <a:avLst>
              <a:gd name="adj" fmla="val 130169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609480" y="1133640"/>
            <a:ext cx="8083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563eb"/>
                </a:solidFill>
                <a:latin typeface="-apple-system"/>
                <a:ea typeface="-apple-system"/>
              </a:rPr>
              <a:t>Do tubo de ensaio ao computador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609480" y="1438200"/>
            <a:ext cx="808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54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0233f"/>
                </a:solidFill>
                <a:latin typeface="Fraunces"/>
                <a:ea typeface="Fraunces"/>
              </a:rPr>
              <a:t>O caminho do RNA-seq em 5 passos</a:t>
            </a:r>
            <a:endParaRPr b="0" lang="pt-B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7"/>
          <p:cNvSpPr/>
          <p:nvPr/>
        </p:nvSpPr>
        <p:spPr>
          <a:xfrm>
            <a:off x="759960" y="2590920"/>
            <a:ext cx="11926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701"/>
              </a:lnSpc>
              <a:tabLst>
                <a:tab algn="l" pos="0"/>
              </a:tabLst>
            </a:pPr>
            <a:r>
              <a:rPr b="0" lang="en-US" sz="22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🧫</a:t>
            </a:r>
            <a:endParaRPr b="0" lang="pt-BR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8"/>
          <p:cNvSpPr/>
          <p:nvPr/>
        </p:nvSpPr>
        <p:spPr>
          <a:xfrm>
            <a:off x="759960" y="3009960"/>
            <a:ext cx="1192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1. Extrair RNA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9"/>
          <p:cNvSpPr/>
          <p:nvPr/>
        </p:nvSpPr>
        <p:spPr>
          <a:xfrm>
            <a:off x="2367720" y="2590920"/>
            <a:ext cx="11926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701"/>
              </a:lnSpc>
              <a:tabLst>
                <a:tab algn="l" pos="0"/>
              </a:tabLst>
            </a:pPr>
            <a:r>
              <a:rPr b="0" lang="en-US" sz="22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🔬</a:t>
            </a:r>
            <a:endParaRPr b="0" lang="pt-BR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10"/>
          <p:cNvSpPr/>
          <p:nvPr/>
        </p:nvSpPr>
        <p:spPr>
          <a:xfrm>
            <a:off x="2367720" y="3009960"/>
            <a:ext cx="1192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2. Sequenciar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11"/>
          <p:cNvSpPr/>
          <p:nvPr/>
        </p:nvSpPr>
        <p:spPr>
          <a:xfrm>
            <a:off x="3975480" y="2590920"/>
            <a:ext cx="11926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701"/>
              </a:lnSpc>
              <a:tabLst>
                <a:tab algn="l" pos="0"/>
              </a:tabLst>
            </a:pPr>
            <a:r>
              <a:rPr b="0" lang="en-US" sz="22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💻</a:t>
            </a:r>
            <a:endParaRPr b="0" lang="pt-BR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12"/>
          <p:cNvSpPr/>
          <p:nvPr/>
        </p:nvSpPr>
        <p:spPr>
          <a:xfrm>
            <a:off x="3987000" y="3009960"/>
            <a:ext cx="11692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3. Alinhar/contar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13"/>
          <p:cNvSpPr/>
          <p:nvPr/>
        </p:nvSpPr>
        <p:spPr>
          <a:xfrm>
            <a:off x="5583240" y="2590920"/>
            <a:ext cx="11926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701"/>
              </a:lnSpc>
              <a:tabLst>
                <a:tab algn="l" pos="0"/>
              </a:tabLst>
            </a:pPr>
            <a:r>
              <a:rPr b="0" lang="en-US" sz="22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📋</a:t>
            </a:r>
            <a:endParaRPr b="0" lang="pt-BR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14"/>
          <p:cNvSpPr/>
          <p:nvPr/>
        </p:nvSpPr>
        <p:spPr>
          <a:xfrm>
            <a:off x="5594760" y="3009960"/>
            <a:ext cx="11692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4. Matriz de contagem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15"/>
          <p:cNvSpPr/>
          <p:nvPr/>
        </p:nvSpPr>
        <p:spPr>
          <a:xfrm>
            <a:off x="7191000" y="2590920"/>
            <a:ext cx="11926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701"/>
              </a:lnSpc>
              <a:tabLst>
                <a:tab algn="l" pos="0"/>
              </a:tabLst>
            </a:pPr>
            <a:r>
              <a:rPr b="0" lang="en-US" sz="22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📈</a:t>
            </a:r>
            <a:endParaRPr b="0" lang="pt-BR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16"/>
          <p:cNvSpPr/>
          <p:nvPr/>
        </p:nvSpPr>
        <p:spPr>
          <a:xfrm>
            <a:off x="7202520" y="3009960"/>
            <a:ext cx="11692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5. Análise (DESeq2)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17"/>
          <p:cNvSpPr/>
          <p:nvPr/>
        </p:nvSpPr>
        <p:spPr>
          <a:xfrm>
            <a:off x="609480" y="3781440"/>
            <a:ext cx="8083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Hoje vamos entrar direto no passo 4 e 5 — a matriz já vem pronta no dataset que usaremos!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 flipV="1">
            <a:off x="7560000" y="3600000"/>
            <a:ext cx="180000" cy="90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 0"/>
          <p:cNvSpPr/>
          <p:nvPr/>
        </p:nvSpPr>
        <p:spPr>
          <a:xfrm>
            <a:off x="609480" y="2461320"/>
            <a:ext cx="2514240" cy="1275840"/>
          </a:xfrm>
          <a:prstGeom prst="roundRect">
            <a:avLst>
              <a:gd name="adj" fmla="val 114627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3" name="Text 1"/>
          <p:cNvSpPr/>
          <p:nvPr/>
        </p:nvSpPr>
        <p:spPr>
          <a:xfrm>
            <a:off x="3314880" y="2461320"/>
            <a:ext cx="2514240" cy="1275840"/>
          </a:xfrm>
          <a:prstGeom prst="roundRect">
            <a:avLst>
              <a:gd name="adj" fmla="val 114627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4" name="Text 2"/>
          <p:cNvSpPr/>
          <p:nvPr/>
        </p:nvSpPr>
        <p:spPr>
          <a:xfrm>
            <a:off x="6019920" y="2461320"/>
            <a:ext cx="2514240" cy="1275840"/>
          </a:xfrm>
          <a:prstGeom prst="roundRect">
            <a:avLst>
              <a:gd name="adj" fmla="val 114627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5" name="Text 3"/>
          <p:cNvSpPr/>
          <p:nvPr/>
        </p:nvSpPr>
        <p:spPr>
          <a:xfrm>
            <a:off x="609480" y="3927960"/>
            <a:ext cx="7924320" cy="1275840"/>
          </a:xfrm>
          <a:prstGeom prst="roundRect">
            <a:avLst>
              <a:gd name="adj" fmla="val 114627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6" name="Text 4"/>
          <p:cNvSpPr/>
          <p:nvPr/>
        </p:nvSpPr>
        <p:spPr>
          <a:xfrm>
            <a:off x="609480" y="-60840"/>
            <a:ext cx="8083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563eb"/>
                </a:solidFill>
                <a:latin typeface="-apple-system"/>
                <a:ea typeface="-apple-system"/>
              </a:rPr>
              <a:t>O passo que a gente não vê no notebook hoje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5"/>
          <p:cNvSpPr/>
          <p:nvPr/>
        </p:nvSpPr>
        <p:spPr>
          <a:xfrm>
            <a:off x="609480" y="244080"/>
            <a:ext cx="79243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4680"/>
              </a:lnSpc>
              <a:tabLst>
                <a:tab algn="l" pos="0"/>
              </a:tabLst>
            </a:pPr>
            <a:r>
              <a:rPr b="1" lang="en-US" sz="3120" spc="-1" strike="noStrike">
                <a:solidFill>
                  <a:srgbClr val="10233f"/>
                </a:solidFill>
                <a:latin typeface="Fraunces"/>
                <a:ea typeface="Fraunces"/>
              </a:rPr>
              <a:t>Alinhamento e contagem: de onde vem a matriz</a:t>
            </a:r>
            <a:endParaRPr b="0" lang="pt-BR" sz="3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6"/>
          <p:cNvSpPr/>
          <p:nvPr/>
        </p:nvSpPr>
        <p:spPr>
          <a:xfrm>
            <a:off x="609480" y="1584720"/>
            <a:ext cx="7924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Antes da matriz de contagens chegar prontinha, os milhões de "pedacinhos" de RNA sequenciados (reads) precisam ser comparados a um genoma de referência — é aí que sabemos de qual gene cada read veio.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7"/>
          <p:cNvSpPr/>
          <p:nvPr/>
        </p:nvSpPr>
        <p:spPr>
          <a:xfrm>
            <a:off x="809640" y="2661120"/>
            <a:ext cx="21564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🧭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8"/>
          <p:cNvSpPr/>
          <p:nvPr/>
        </p:nvSpPr>
        <p:spPr>
          <a:xfrm>
            <a:off x="809640" y="3004200"/>
            <a:ext cx="2156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HISAT2 / STAR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9"/>
          <p:cNvSpPr/>
          <p:nvPr/>
        </p:nvSpPr>
        <p:spPr>
          <a:xfrm>
            <a:off x="809640" y="3232800"/>
            <a:ext cx="21142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Alinham reads ao genoma de referência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10"/>
          <p:cNvSpPr/>
          <p:nvPr/>
        </p:nvSpPr>
        <p:spPr>
          <a:xfrm>
            <a:off x="3514680" y="2661120"/>
            <a:ext cx="21564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🔢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 11"/>
          <p:cNvSpPr/>
          <p:nvPr/>
        </p:nvSpPr>
        <p:spPr>
          <a:xfrm>
            <a:off x="3514680" y="3004200"/>
            <a:ext cx="2156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featureCounts / HTSeq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12"/>
          <p:cNvSpPr/>
          <p:nvPr/>
        </p:nvSpPr>
        <p:spPr>
          <a:xfrm>
            <a:off x="3514680" y="3232800"/>
            <a:ext cx="21142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Contam quantos reads caíram em cada gene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13"/>
          <p:cNvSpPr/>
          <p:nvPr/>
        </p:nvSpPr>
        <p:spPr>
          <a:xfrm>
            <a:off x="6219720" y="2661120"/>
            <a:ext cx="21564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⚡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14"/>
          <p:cNvSpPr/>
          <p:nvPr/>
        </p:nvSpPr>
        <p:spPr>
          <a:xfrm>
            <a:off x="6219720" y="3004200"/>
            <a:ext cx="2156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Salmon / Kallisto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15"/>
          <p:cNvSpPr/>
          <p:nvPr/>
        </p:nvSpPr>
        <p:spPr>
          <a:xfrm>
            <a:off x="6219720" y="3232800"/>
            <a:ext cx="21142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Alinhamento "pseudo", bem mais rápido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16"/>
          <p:cNvSpPr/>
          <p:nvPr/>
        </p:nvSpPr>
        <p:spPr>
          <a:xfrm>
            <a:off x="809640" y="4128120"/>
            <a:ext cx="7674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⏱️ 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Quanto tempo demora?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17"/>
          <p:cNvSpPr/>
          <p:nvPr/>
        </p:nvSpPr>
        <p:spPr>
          <a:xfrm>
            <a:off x="809640" y="4432680"/>
            <a:ext cx="75243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Para uma amostra humana típica (~20-30 milhões de reads): alinhamento tradicional (STAR) leva de </a:t>
            </a:r>
            <a:r>
              <a:rPr b="1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15 a 40 minutos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 por amostra; métodos pseudo-alinhamento (Salmon) fazem em </a:t>
            </a:r>
            <a:r>
              <a:rPr b="1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2 a 5 minutos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. Por isso hoje pulamos essa etapa e já usamos a matriz pronta do pacote airway!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 0"/>
          <p:cNvSpPr/>
          <p:nvPr/>
        </p:nvSpPr>
        <p:spPr>
          <a:xfrm>
            <a:off x="609480" y="2480400"/>
            <a:ext cx="2514240" cy="1428480"/>
          </a:xfrm>
          <a:prstGeom prst="roundRect">
            <a:avLst>
              <a:gd name="adj" fmla="val 102400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1" name="Text 1"/>
          <p:cNvSpPr/>
          <p:nvPr/>
        </p:nvSpPr>
        <p:spPr>
          <a:xfrm>
            <a:off x="3314880" y="2480400"/>
            <a:ext cx="2514240" cy="1428480"/>
          </a:xfrm>
          <a:prstGeom prst="roundRect">
            <a:avLst>
              <a:gd name="adj" fmla="val 102400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2" name="Text 2"/>
          <p:cNvSpPr/>
          <p:nvPr/>
        </p:nvSpPr>
        <p:spPr>
          <a:xfrm>
            <a:off x="6019920" y="2480400"/>
            <a:ext cx="2514240" cy="1428480"/>
          </a:xfrm>
          <a:prstGeom prst="roundRect">
            <a:avLst>
              <a:gd name="adj" fmla="val 102400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3" name="Text 3"/>
          <p:cNvSpPr/>
          <p:nvPr/>
        </p:nvSpPr>
        <p:spPr>
          <a:xfrm>
            <a:off x="609480" y="4099320"/>
            <a:ext cx="7924320" cy="1085400"/>
          </a:xfrm>
          <a:prstGeom prst="roundRect">
            <a:avLst>
              <a:gd name="adj" fmla="val 134737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4" name="Text 4"/>
          <p:cNvSpPr/>
          <p:nvPr/>
        </p:nvSpPr>
        <p:spPr>
          <a:xfrm>
            <a:off x="609480" y="-41760"/>
            <a:ext cx="8083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563eb"/>
                </a:solidFill>
                <a:latin typeface="-apple-system"/>
                <a:ea typeface="-apple-system"/>
              </a:rPr>
              <a:t>Quando não existe genoma de referência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5"/>
          <p:cNvSpPr/>
          <p:nvPr/>
        </p:nvSpPr>
        <p:spPr>
          <a:xfrm>
            <a:off x="609480" y="262800"/>
            <a:ext cx="79243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4680"/>
              </a:lnSpc>
              <a:tabLst>
                <a:tab algn="l" pos="0"/>
              </a:tabLst>
            </a:pPr>
            <a:r>
              <a:rPr b="1" lang="en-US" sz="3120" spc="-1" strike="noStrike">
                <a:solidFill>
                  <a:srgbClr val="10233f"/>
                </a:solidFill>
                <a:latin typeface="Fraunces"/>
                <a:ea typeface="Fraunces"/>
              </a:rPr>
              <a:t>Montadores (assemblers): montando o quebra-cabeça do zero</a:t>
            </a:r>
            <a:endParaRPr b="0" lang="pt-BR" sz="3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609480" y="1603800"/>
            <a:ext cx="7924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Em organismos sem genoma de referência bom (como muitas plantas e orquídeas!), não dá pra alinhar. Aí usamos montagem </a:t>
            </a:r>
            <a:r>
              <a:rPr b="0" i="1" lang="en-US" sz="12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de novo</a:t>
            </a:r>
            <a:r>
              <a:rPr b="0" lang="en-US" sz="12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: juntar os pedacinhos (reads) como um quebra-cabeça, sem gabarito.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7"/>
          <p:cNvSpPr/>
          <p:nvPr/>
        </p:nvSpPr>
        <p:spPr>
          <a:xfrm>
            <a:off x="809640" y="2680200"/>
            <a:ext cx="21564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🧩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8"/>
          <p:cNvSpPr/>
          <p:nvPr/>
        </p:nvSpPr>
        <p:spPr>
          <a:xfrm>
            <a:off x="809640" y="3023280"/>
            <a:ext cx="2156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Trinity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9"/>
          <p:cNvSpPr/>
          <p:nvPr/>
        </p:nvSpPr>
        <p:spPr>
          <a:xfrm>
            <a:off x="809640" y="3251880"/>
            <a:ext cx="21142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Padrão-ouro para montagem de novo de transcriptoma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0"/>
          <p:cNvSpPr/>
          <p:nvPr/>
        </p:nvSpPr>
        <p:spPr>
          <a:xfrm>
            <a:off x="3514680" y="2680200"/>
            <a:ext cx="21564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🕸️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11"/>
          <p:cNvSpPr/>
          <p:nvPr/>
        </p:nvSpPr>
        <p:spPr>
          <a:xfrm>
            <a:off x="3514680" y="3023280"/>
            <a:ext cx="2156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SPAdes / rnaSPAdes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12"/>
          <p:cNvSpPr/>
          <p:nvPr/>
        </p:nvSpPr>
        <p:spPr>
          <a:xfrm>
            <a:off x="3514680" y="3251880"/>
            <a:ext cx="21142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Popular em genomas e transcriptomas, rápido e leve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13"/>
          <p:cNvSpPr/>
          <p:nvPr/>
        </p:nvSpPr>
        <p:spPr>
          <a:xfrm>
            <a:off x="6219720" y="2680200"/>
            <a:ext cx="21564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🧵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14"/>
          <p:cNvSpPr/>
          <p:nvPr/>
        </p:nvSpPr>
        <p:spPr>
          <a:xfrm>
            <a:off x="6219720" y="3023280"/>
            <a:ext cx="2156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StringTie / Cufflinks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15"/>
          <p:cNvSpPr/>
          <p:nvPr/>
        </p:nvSpPr>
        <p:spPr>
          <a:xfrm>
            <a:off x="6219720" y="3251880"/>
            <a:ext cx="2114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Montagem guiada por referência (quando ela existe, mas é incompleta)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16"/>
          <p:cNvSpPr/>
          <p:nvPr/>
        </p:nvSpPr>
        <p:spPr>
          <a:xfrm>
            <a:off x="809640" y="4299480"/>
            <a:ext cx="7674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⏱️ </a:t>
            </a: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Tempo e recursos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17"/>
          <p:cNvSpPr/>
          <p:nvPr/>
        </p:nvSpPr>
        <p:spPr>
          <a:xfrm>
            <a:off x="809640" y="4604400"/>
            <a:ext cx="7524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Trinity pode levar de </a:t>
            </a:r>
            <a:r>
              <a:rPr b="1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algumas horas a vários dias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 e exigir </a:t>
            </a:r>
            <a:r>
              <a:rPr b="1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50-200 GB de RAM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 para transcriptomas complexos (ex.: plantas poliploides). Por isso, muitas vezes é rodado em clusters, não no Colab.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" descr=""/>
          <p:cNvPicPr/>
          <p:nvPr/>
        </p:nvPicPr>
        <p:blipFill>
          <a:blip r:embed="rId1"/>
          <a:stretch/>
        </p:blipFill>
        <p:spPr>
          <a:xfrm>
            <a:off x="1261440" y="180000"/>
            <a:ext cx="6298560" cy="4797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" descr=""/>
          <p:cNvPicPr/>
          <p:nvPr/>
        </p:nvPicPr>
        <p:blipFill>
          <a:blip r:embed="rId1"/>
          <a:stretch/>
        </p:blipFill>
        <p:spPr>
          <a:xfrm>
            <a:off x="25560" y="16200"/>
            <a:ext cx="9143640" cy="5142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/>
          <p:nvPr/>
        </p:nvSpPr>
        <p:spPr>
          <a:xfrm>
            <a:off x="4762440" y="1305000"/>
            <a:ext cx="3771720" cy="2533320"/>
          </a:xfrm>
          <a:prstGeom prst="roundRect">
            <a:avLst>
              <a:gd name="adj" fmla="val 57744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1" name="Text 1"/>
          <p:cNvSpPr/>
          <p:nvPr/>
        </p:nvSpPr>
        <p:spPr>
          <a:xfrm>
            <a:off x="609480" y="1082160"/>
            <a:ext cx="38469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563eb"/>
                </a:solidFill>
                <a:latin typeface="-apple-system"/>
                <a:ea typeface="-apple-system"/>
              </a:rPr>
              <a:t>Nosso caso de estudo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2"/>
          <p:cNvSpPr/>
          <p:nvPr/>
        </p:nvSpPr>
        <p:spPr>
          <a:xfrm>
            <a:off x="609480" y="1387080"/>
            <a:ext cx="37717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4680"/>
              </a:lnSpc>
              <a:tabLst>
                <a:tab algn="l" pos="0"/>
              </a:tabLst>
            </a:pPr>
            <a:r>
              <a:rPr b="1" lang="en-US" sz="3120" spc="-1" strike="noStrike">
                <a:solidFill>
                  <a:srgbClr val="10233f"/>
                </a:solidFill>
                <a:latin typeface="Fraunces"/>
                <a:ea typeface="Fraunces"/>
              </a:rPr>
              <a:t>O dataset "airway" 🫁</a:t>
            </a:r>
            <a:endParaRPr b="0" lang="pt-BR" sz="3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3"/>
          <p:cNvSpPr/>
          <p:nvPr/>
        </p:nvSpPr>
        <p:spPr>
          <a:xfrm>
            <a:off x="609480" y="2727720"/>
            <a:ext cx="377172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Células de vias aéreas humanas (pulmão) cultivadas em laboratório. Algumas amostras foram tratadas com dexametasona (um anti-inflamatório), outras ficaram só de controle.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4"/>
          <p:cNvSpPr/>
          <p:nvPr/>
        </p:nvSpPr>
        <p:spPr>
          <a:xfrm>
            <a:off x="5076720" y="1619280"/>
            <a:ext cx="3205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Ficha técnica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5"/>
          <p:cNvSpPr/>
          <p:nvPr/>
        </p:nvSpPr>
        <p:spPr>
          <a:xfrm>
            <a:off x="5076720" y="1962000"/>
            <a:ext cx="314280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📦 </a:t>
            </a:r>
            <a:r>
              <a:rPr b="1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Origem: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 Bioconductor (pacote livre e didático)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🧬 </a:t>
            </a:r>
            <a:r>
              <a:rPr b="1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63.677 genes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 x </a:t>
            </a:r>
            <a:r>
              <a:rPr b="1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8 amostras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💉 </a:t>
            </a:r>
            <a:r>
              <a:rPr b="1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4 pacientes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, cada um com tratado e não-tratado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🎯 </a:t>
            </a:r>
            <a:r>
              <a:rPr b="1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Pergunta:</a:t>
            </a: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 quais genes mudam com o remédio?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ext 0"/>
          <p:cNvSpPr/>
          <p:nvPr/>
        </p:nvSpPr>
        <p:spPr>
          <a:xfrm>
            <a:off x="609480" y="2730600"/>
            <a:ext cx="7924320" cy="1571400"/>
          </a:xfrm>
          <a:prstGeom prst="roundRect">
            <a:avLst>
              <a:gd name="adj" fmla="val 93091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167" name="Table 0"/>
          <p:cNvGraphicFramePr/>
          <p:nvPr/>
        </p:nvGraphicFramePr>
        <p:xfrm>
          <a:off x="771480" y="2892600"/>
          <a:ext cx="7600680" cy="1247400"/>
        </p:xfrm>
        <a:graphic>
          <a:graphicData uri="http://schemas.openxmlformats.org/drawingml/2006/table">
            <a:tbl>
              <a:tblPr/>
              <a:tblGrid>
                <a:gridCol w="1519920"/>
                <a:gridCol w="1519920"/>
                <a:gridCol w="1519920"/>
                <a:gridCol w="1519920"/>
                <a:gridCol w="1519920"/>
              </a:tblGrid>
              <a:tr h="311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6b84a0"/>
                          </a:solidFill>
                          <a:latin typeface="-apple-system"/>
                          <a:ea typeface="-apple-system"/>
                        </a:rPr>
                        <a:t>Gene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6b84a0"/>
                          </a:solidFill>
                          <a:latin typeface="-apple-system"/>
                          <a:ea typeface="-apple-system"/>
                        </a:rPr>
                        <a:t>SRR...508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6b84a0"/>
                          </a:solidFill>
                          <a:latin typeface="-apple-system"/>
                          <a:ea typeface="-apple-system"/>
                        </a:rPr>
                        <a:t>SRR...509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6b84a0"/>
                          </a:solidFill>
                          <a:latin typeface="-apple-system"/>
                          <a:ea typeface="-apple-system"/>
                        </a:rPr>
                        <a:t>SRR...512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6b84a0"/>
                          </a:solidFill>
                          <a:latin typeface="-apple-system"/>
                          <a:ea typeface="-apple-system"/>
                        </a:rPr>
                        <a:t>SRR...513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11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0233f"/>
                          </a:solidFill>
                          <a:latin typeface="ui-monospace"/>
                          <a:ea typeface="ui-monospace"/>
                        </a:rPr>
                        <a:t>ENSG...0003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0233f"/>
                          </a:solidFill>
                          <a:latin typeface="-apple-system"/>
                          <a:ea typeface="-apple-system"/>
                        </a:rPr>
                        <a:t>679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0233f"/>
                          </a:solidFill>
                          <a:latin typeface="-apple-system"/>
                          <a:ea typeface="-apple-system"/>
                        </a:rPr>
                        <a:t>448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0233f"/>
                          </a:solidFill>
                          <a:latin typeface="-apple-system"/>
                          <a:ea typeface="-apple-system"/>
                        </a:rPr>
                        <a:t>873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0233f"/>
                          </a:solidFill>
                          <a:latin typeface="-apple-system"/>
                          <a:ea typeface="-apple-system"/>
                        </a:rPr>
                        <a:t>408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11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0233f"/>
                          </a:solidFill>
                          <a:latin typeface="ui-monospace"/>
                          <a:ea typeface="ui-monospace"/>
                        </a:rPr>
                        <a:t>ENSG...0005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0233f"/>
                          </a:solidFill>
                          <a:latin typeface="-apple-system"/>
                          <a:ea typeface="-apple-system"/>
                        </a:rPr>
                        <a:t>0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0233f"/>
                          </a:solidFill>
                          <a:latin typeface="-apple-system"/>
                          <a:ea typeface="-apple-system"/>
                        </a:rPr>
                        <a:t>0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0233f"/>
                          </a:solidFill>
                          <a:latin typeface="-apple-system"/>
                          <a:ea typeface="-apple-system"/>
                        </a:rPr>
                        <a:t>0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0233f"/>
                          </a:solidFill>
                          <a:latin typeface="-apple-system"/>
                          <a:ea typeface="-apple-system"/>
                        </a:rPr>
                        <a:t>0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11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0233f"/>
                          </a:solidFill>
                          <a:latin typeface="ui-monospace"/>
                          <a:ea typeface="ui-monospace"/>
                        </a:rPr>
                        <a:t>ENSG...0419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0233f"/>
                          </a:solidFill>
                          <a:latin typeface="-apple-system"/>
                          <a:ea typeface="-apple-system"/>
                        </a:rPr>
                        <a:t>467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0233f"/>
                          </a:solidFill>
                          <a:latin typeface="-apple-system"/>
                          <a:ea typeface="-apple-system"/>
                        </a:rPr>
                        <a:t>515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0233f"/>
                          </a:solidFill>
                          <a:latin typeface="-apple-system"/>
                          <a:ea typeface="-apple-system"/>
                        </a:rPr>
                        <a:t>621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0233f"/>
                          </a:solidFill>
                          <a:latin typeface="-apple-system"/>
                          <a:ea typeface="-apple-system"/>
                        </a:rPr>
                        <a:t>365</a:t>
                      </a:r>
                      <a:endParaRPr b="0" lang="pt-BR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8" name="Text 1"/>
          <p:cNvSpPr/>
          <p:nvPr/>
        </p:nvSpPr>
        <p:spPr>
          <a:xfrm>
            <a:off x="609480" y="840960"/>
            <a:ext cx="8083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563eb"/>
                </a:solidFill>
                <a:latin typeface="-apple-system"/>
                <a:ea typeface="-apple-system"/>
              </a:rPr>
              <a:t>A planilha gigante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2"/>
          <p:cNvSpPr/>
          <p:nvPr/>
        </p:nvSpPr>
        <p:spPr>
          <a:xfrm>
            <a:off x="609480" y="1145880"/>
            <a:ext cx="8083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4680"/>
              </a:lnSpc>
              <a:tabLst>
                <a:tab algn="l" pos="0"/>
              </a:tabLst>
            </a:pPr>
            <a:r>
              <a:rPr b="1" lang="en-US" sz="3120" spc="-1" strike="noStrike">
                <a:solidFill>
                  <a:srgbClr val="10233f"/>
                </a:solidFill>
                <a:latin typeface="Fraunces"/>
                <a:ea typeface="Fraunces"/>
              </a:rPr>
              <a:t>A matriz de contagens: genes x amostras</a:t>
            </a:r>
            <a:endParaRPr b="0" lang="pt-BR" sz="3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3"/>
          <p:cNvSpPr/>
          <p:nvPr/>
        </p:nvSpPr>
        <p:spPr>
          <a:xfrm>
            <a:off x="609480" y="1892520"/>
            <a:ext cx="7924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Cada linha é um gene, cada coluna é uma amostra. O número é quantas vezes aquele gene "apareceu" no sequenciamento — pensem como contar quantas vezes uma palavra aparece num texto.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609480" y="3438360"/>
            <a:ext cx="2514240" cy="933120"/>
          </a:xfrm>
          <a:prstGeom prst="roundRect">
            <a:avLst>
              <a:gd name="adj" fmla="val 156735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3314880" y="3438360"/>
            <a:ext cx="2514240" cy="933120"/>
          </a:xfrm>
          <a:prstGeom prst="roundRect">
            <a:avLst>
              <a:gd name="adj" fmla="val 156735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3" name="Text 2"/>
          <p:cNvSpPr/>
          <p:nvPr/>
        </p:nvSpPr>
        <p:spPr>
          <a:xfrm>
            <a:off x="6019920" y="3438360"/>
            <a:ext cx="2514240" cy="933120"/>
          </a:xfrm>
          <a:prstGeom prst="roundRect">
            <a:avLst>
              <a:gd name="adj" fmla="val 156735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530280" y="771480"/>
            <a:ext cx="808308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4501"/>
              </a:lnSpc>
              <a:tabLst>
                <a:tab algn="l" pos="0"/>
              </a:tabLst>
            </a:pPr>
            <a:r>
              <a:rPr b="0" lang="en-US" sz="45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🕵️‍♀️</a:t>
            </a:r>
            <a:endParaRPr b="0" lang="pt-BR" sz="4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4"/>
          <p:cNvSpPr/>
          <p:nvPr/>
        </p:nvSpPr>
        <p:spPr>
          <a:xfrm>
            <a:off x="530280" y="1495440"/>
            <a:ext cx="808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54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0233f"/>
                </a:solidFill>
                <a:latin typeface="Fraunces"/>
                <a:ea typeface="Fraunces"/>
              </a:rPr>
              <a:t>DESeq2: o detetive dos genes</a:t>
            </a:r>
            <a:endParaRPr b="0" lang="pt-B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5"/>
          <p:cNvSpPr/>
          <p:nvPr/>
        </p:nvSpPr>
        <p:spPr>
          <a:xfrm>
            <a:off x="1371600" y="2333520"/>
            <a:ext cx="640044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É um pacote de R que compara os grupos (tratado vs controle) e aponta quais genes mudaram de forma estatisticamente relevante — sem cair em "achismo" ou coincidência.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6"/>
          <p:cNvSpPr/>
          <p:nvPr/>
        </p:nvSpPr>
        <p:spPr>
          <a:xfrm>
            <a:off x="788400" y="3638520"/>
            <a:ext cx="21564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📏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7"/>
          <p:cNvSpPr/>
          <p:nvPr/>
        </p:nvSpPr>
        <p:spPr>
          <a:xfrm>
            <a:off x="788400" y="3981600"/>
            <a:ext cx="2156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Normaliza os dados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8"/>
          <p:cNvSpPr/>
          <p:nvPr/>
        </p:nvSpPr>
        <p:spPr>
          <a:xfrm>
            <a:off x="3493440" y="3638520"/>
            <a:ext cx="21564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🎲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9"/>
          <p:cNvSpPr/>
          <p:nvPr/>
        </p:nvSpPr>
        <p:spPr>
          <a:xfrm>
            <a:off x="3493440" y="3981600"/>
            <a:ext cx="2156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Modela a variação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10"/>
          <p:cNvSpPr/>
          <p:nvPr/>
        </p:nvSpPr>
        <p:spPr>
          <a:xfrm>
            <a:off x="6198840" y="3638520"/>
            <a:ext cx="21564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✅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11"/>
          <p:cNvSpPr/>
          <p:nvPr/>
        </p:nvSpPr>
        <p:spPr>
          <a:xfrm>
            <a:off x="6198840" y="3981600"/>
            <a:ext cx="2156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Testa significância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609480" y="2049840"/>
            <a:ext cx="7924320" cy="628200"/>
          </a:xfrm>
          <a:prstGeom prst="roundRect">
            <a:avLst>
              <a:gd name="adj" fmla="val 232727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609480" y="2792520"/>
            <a:ext cx="7924320" cy="628200"/>
          </a:xfrm>
          <a:prstGeom prst="roundRect">
            <a:avLst>
              <a:gd name="adj" fmla="val 232727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5" name="Text 2"/>
          <p:cNvSpPr/>
          <p:nvPr/>
        </p:nvSpPr>
        <p:spPr>
          <a:xfrm>
            <a:off x="609480" y="3535560"/>
            <a:ext cx="7924320" cy="628200"/>
          </a:xfrm>
          <a:prstGeom prst="roundRect">
            <a:avLst>
              <a:gd name="adj" fmla="val 232727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6" name="Text 3"/>
          <p:cNvSpPr/>
          <p:nvPr/>
        </p:nvSpPr>
        <p:spPr>
          <a:xfrm>
            <a:off x="609480" y="4278600"/>
            <a:ext cx="7924320" cy="628200"/>
          </a:xfrm>
          <a:prstGeom prst="roundRect">
            <a:avLst>
              <a:gd name="adj" fmla="val 232727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7" name="Text 4"/>
          <p:cNvSpPr/>
          <p:nvPr/>
        </p:nvSpPr>
        <p:spPr>
          <a:xfrm>
            <a:off x="609480" y="236160"/>
            <a:ext cx="8083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563eb"/>
                </a:solidFill>
                <a:latin typeface="-apple-system"/>
                <a:ea typeface="-apple-system"/>
              </a:rPr>
              <a:t>No notebook, é assim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5"/>
          <p:cNvSpPr/>
          <p:nvPr/>
        </p:nvSpPr>
        <p:spPr>
          <a:xfrm>
            <a:off x="609480" y="541080"/>
            <a:ext cx="792432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5040"/>
              </a:lnSpc>
              <a:tabLst>
                <a:tab algn="l" pos="0"/>
              </a:tabLst>
            </a:pPr>
            <a:r>
              <a:rPr b="1" lang="en-US" sz="3359" spc="-1" strike="noStrike">
                <a:solidFill>
                  <a:srgbClr val="10233f"/>
                </a:solidFill>
                <a:latin typeface="Fraunces"/>
                <a:ea typeface="Fraunces"/>
              </a:rPr>
              <a:t>O pipeline do DESeq2, em bom português</a:t>
            </a:r>
            <a:endParaRPr b="0" lang="pt-BR" sz="335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6"/>
          <p:cNvSpPr/>
          <p:nvPr/>
        </p:nvSpPr>
        <p:spPr>
          <a:xfrm>
            <a:off x="771480" y="2211480"/>
            <a:ext cx="2880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1️⃣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7"/>
          <p:cNvSpPr/>
          <p:nvPr/>
        </p:nvSpPr>
        <p:spPr>
          <a:xfrm>
            <a:off x="1206720" y="2268720"/>
            <a:ext cx="58381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Criar o objeto DESeqDataSet</a:t>
            </a:r>
            <a:r>
              <a:rPr b="0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 — juntar contagens + metadados (quem foi tratado)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8"/>
          <p:cNvSpPr/>
          <p:nvPr/>
        </p:nvSpPr>
        <p:spPr>
          <a:xfrm>
            <a:off x="771480" y="2954520"/>
            <a:ext cx="2880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2️⃣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9"/>
          <p:cNvSpPr/>
          <p:nvPr/>
        </p:nvSpPr>
        <p:spPr>
          <a:xfrm>
            <a:off x="1206720" y="3011760"/>
            <a:ext cx="4960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Filtrar genes fracos</a:t>
            </a:r>
            <a:r>
              <a:rPr b="0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 — remover genes quase sem contagem (só ruído)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10"/>
          <p:cNvSpPr/>
          <p:nvPr/>
        </p:nvSpPr>
        <p:spPr>
          <a:xfrm>
            <a:off x="771480" y="3697560"/>
            <a:ext cx="2880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3️⃣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11"/>
          <p:cNvSpPr/>
          <p:nvPr/>
        </p:nvSpPr>
        <p:spPr>
          <a:xfrm>
            <a:off x="1206720" y="3754800"/>
            <a:ext cx="5305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Rodar DESeq()</a:t>
            </a:r>
            <a:r>
              <a:rPr b="0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 — normaliza, estima variação e testa tudo automaticamente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 12"/>
          <p:cNvSpPr/>
          <p:nvPr/>
        </p:nvSpPr>
        <p:spPr>
          <a:xfrm>
            <a:off x="771480" y="4440600"/>
            <a:ext cx="2880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4️⃣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13"/>
          <p:cNvSpPr/>
          <p:nvPr/>
        </p:nvSpPr>
        <p:spPr>
          <a:xfrm>
            <a:off x="1206720" y="4497480"/>
            <a:ext cx="51087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Extrair resultados</a:t>
            </a:r>
            <a:r>
              <a:rPr b="0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 — tabela final com os genes "campeões" da diferença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/>
          <p:nvPr/>
        </p:nvSpPr>
        <p:spPr>
          <a:xfrm>
            <a:off x="609480" y="2287800"/>
            <a:ext cx="2514240" cy="1695240"/>
          </a:xfrm>
          <a:prstGeom prst="roundRect">
            <a:avLst>
              <a:gd name="adj" fmla="val 86292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3314880" y="2287800"/>
            <a:ext cx="2514240" cy="1695240"/>
          </a:xfrm>
          <a:prstGeom prst="roundRect">
            <a:avLst>
              <a:gd name="adj" fmla="val 86292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9" name="Text 2"/>
          <p:cNvSpPr/>
          <p:nvPr/>
        </p:nvSpPr>
        <p:spPr>
          <a:xfrm>
            <a:off x="6019920" y="2287800"/>
            <a:ext cx="2514240" cy="1695240"/>
          </a:xfrm>
          <a:prstGeom prst="roundRect">
            <a:avLst>
              <a:gd name="adj" fmla="val 86292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0" name="Text 3"/>
          <p:cNvSpPr/>
          <p:nvPr/>
        </p:nvSpPr>
        <p:spPr>
          <a:xfrm>
            <a:off x="609480" y="1160280"/>
            <a:ext cx="8083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563eb"/>
                </a:solidFill>
                <a:latin typeface="-apple-system"/>
                <a:ea typeface="-apple-system"/>
              </a:rPr>
              <a:t>A tabela de resultados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 4"/>
          <p:cNvSpPr/>
          <p:nvPr/>
        </p:nvSpPr>
        <p:spPr>
          <a:xfrm>
            <a:off x="609480" y="1464840"/>
            <a:ext cx="8083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4680"/>
              </a:lnSpc>
              <a:tabLst>
                <a:tab algn="l" pos="0"/>
              </a:tabLst>
            </a:pPr>
            <a:r>
              <a:rPr b="1" lang="en-US" sz="3120" spc="-1" strike="noStrike">
                <a:solidFill>
                  <a:srgbClr val="10233f"/>
                </a:solidFill>
                <a:latin typeface="Fraunces"/>
                <a:ea typeface="Fraunces"/>
              </a:rPr>
              <a:t>3 colunas que você precisa entender</a:t>
            </a:r>
            <a:endParaRPr b="0" lang="pt-BR" sz="3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 5"/>
          <p:cNvSpPr/>
          <p:nvPr/>
        </p:nvSpPr>
        <p:spPr>
          <a:xfrm>
            <a:off x="847800" y="2525760"/>
            <a:ext cx="2078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📶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 6"/>
          <p:cNvSpPr/>
          <p:nvPr/>
        </p:nvSpPr>
        <p:spPr>
          <a:xfrm>
            <a:off x="847800" y="2907000"/>
            <a:ext cx="2078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log2FoldChange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7"/>
          <p:cNvSpPr/>
          <p:nvPr/>
        </p:nvSpPr>
        <p:spPr>
          <a:xfrm>
            <a:off x="847800" y="3173760"/>
            <a:ext cx="20379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O quanto o gene mudou. Positivo = subiu, negativo = caiu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8"/>
          <p:cNvSpPr/>
          <p:nvPr/>
        </p:nvSpPr>
        <p:spPr>
          <a:xfrm>
            <a:off x="3552840" y="2525760"/>
            <a:ext cx="2078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🎯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 9"/>
          <p:cNvSpPr/>
          <p:nvPr/>
        </p:nvSpPr>
        <p:spPr>
          <a:xfrm>
            <a:off x="3552840" y="2907000"/>
            <a:ext cx="2078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p-value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10"/>
          <p:cNvSpPr/>
          <p:nvPr/>
        </p:nvSpPr>
        <p:spPr>
          <a:xfrm>
            <a:off x="3552840" y="3173760"/>
            <a:ext cx="20379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A chance de essa diferença ser só sorte/acaso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11"/>
          <p:cNvSpPr/>
          <p:nvPr/>
        </p:nvSpPr>
        <p:spPr>
          <a:xfrm>
            <a:off x="6257880" y="2525760"/>
            <a:ext cx="2078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🛡️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12"/>
          <p:cNvSpPr/>
          <p:nvPr/>
        </p:nvSpPr>
        <p:spPr>
          <a:xfrm>
            <a:off x="6257880" y="2907000"/>
            <a:ext cx="2078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padj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13"/>
          <p:cNvSpPr/>
          <p:nvPr/>
        </p:nvSpPr>
        <p:spPr>
          <a:xfrm>
            <a:off x="6257880" y="3173760"/>
            <a:ext cx="20379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p-value corrigido — porque testamos milhares de genes de uma vez!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 0"/>
          <p:cNvSpPr/>
          <p:nvPr/>
        </p:nvSpPr>
        <p:spPr>
          <a:xfrm>
            <a:off x="4762440" y="1838160"/>
            <a:ext cx="3771720" cy="1466640"/>
          </a:xfrm>
          <a:prstGeom prst="roundRect">
            <a:avLst>
              <a:gd name="adj" fmla="val 99740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2" name="Text 1"/>
          <p:cNvSpPr/>
          <p:nvPr/>
        </p:nvSpPr>
        <p:spPr>
          <a:xfrm>
            <a:off x="609480" y="834480"/>
            <a:ext cx="38469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563eb"/>
                </a:solidFill>
                <a:latin typeface="-apple-system"/>
                <a:ea typeface="-apple-system"/>
              </a:rPr>
              <a:t>Vendo é crer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2"/>
          <p:cNvSpPr/>
          <p:nvPr/>
        </p:nvSpPr>
        <p:spPr>
          <a:xfrm>
            <a:off x="609480" y="1139400"/>
            <a:ext cx="37717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4680"/>
              </a:lnSpc>
              <a:tabLst>
                <a:tab algn="l" pos="0"/>
              </a:tabLst>
            </a:pPr>
            <a:r>
              <a:rPr b="1" lang="en-US" sz="3120" spc="-1" strike="noStrike">
                <a:solidFill>
                  <a:srgbClr val="10233f"/>
                </a:solidFill>
                <a:latin typeface="Fraunces"/>
                <a:ea typeface="Fraunces"/>
              </a:rPr>
              <a:t>Os gráficos que contam a história</a:t>
            </a:r>
            <a:endParaRPr b="0" lang="pt-BR" sz="3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609480" y="2480400"/>
            <a:ext cx="37717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🌋 </a:t>
            </a:r>
            <a:r>
              <a:rPr b="1" lang="en-US" sz="12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Volcano plot:</a:t>
            </a:r>
            <a:r>
              <a:rPr b="0" lang="en-US" sz="12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 mostra magnitude (eixo X) x significância (eixo Y) — os genes "explosivos" ficam nos cantos superiores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🗺️ </a:t>
            </a:r>
            <a:r>
              <a:rPr b="1" lang="en-US" sz="12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PCA:</a:t>
            </a:r>
            <a:r>
              <a:rPr b="0" lang="en-US" sz="12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 agrupa amostras parecidas — tratados de um lado, controles de outro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📉 </a:t>
            </a:r>
            <a:r>
              <a:rPr b="1" lang="en-US" sz="12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MA-plot:</a:t>
            </a:r>
            <a:r>
              <a:rPr b="0" lang="en-US" sz="1200" spc="-1" strike="noStrike">
                <a:solidFill>
                  <a:srgbClr val="3b5773"/>
                </a:solidFill>
                <a:latin typeface="-apple-system"/>
                <a:ea typeface="-apple-system"/>
              </a:rPr>
              <a:t> expressão média x mudança, útil pra ver qualidade geral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4"/>
          <p:cNvSpPr/>
          <p:nvPr/>
        </p:nvSpPr>
        <p:spPr>
          <a:xfrm>
            <a:off x="5045400" y="2152800"/>
            <a:ext cx="32058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4501"/>
              </a:lnSpc>
              <a:tabLst>
                <a:tab algn="l" pos="0"/>
              </a:tabLst>
            </a:pPr>
            <a:r>
              <a:rPr b="0" lang="en-US" sz="45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🌋</a:t>
            </a:r>
            <a:endParaRPr b="0" lang="pt-BR" sz="4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5045400" y="2800440"/>
            <a:ext cx="3205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b84a0"/>
                </a:solidFill>
                <a:latin typeface="-apple-system"/>
                <a:ea typeface="-apple-system"/>
              </a:rPr>
              <a:t>Pontos coloridos = genes significativos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 0"/>
          <p:cNvSpPr/>
          <p:nvPr/>
        </p:nvSpPr>
        <p:spPr>
          <a:xfrm>
            <a:off x="609480" y="3267000"/>
            <a:ext cx="2514240" cy="933120"/>
          </a:xfrm>
          <a:prstGeom prst="roundRect">
            <a:avLst>
              <a:gd name="adj" fmla="val 156735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8" name="Text 1"/>
          <p:cNvSpPr/>
          <p:nvPr/>
        </p:nvSpPr>
        <p:spPr>
          <a:xfrm>
            <a:off x="3314880" y="3267000"/>
            <a:ext cx="2514240" cy="933120"/>
          </a:xfrm>
          <a:prstGeom prst="roundRect">
            <a:avLst>
              <a:gd name="adj" fmla="val 156735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9" name="Text 2"/>
          <p:cNvSpPr/>
          <p:nvPr/>
        </p:nvSpPr>
        <p:spPr>
          <a:xfrm>
            <a:off x="6019920" y="3267000"/>
            <a:ext cx="2514240" cy="933120"/>
          </a:xfrm>
          <a:prstGeom prst="roundRect">
            <a:avLst>
              <a:gd name="adj" fmla="val 156735"/>
            </a:avLst>
          </a:prstGeom>
          <a:noFill/>
          <a:ln w="9525">
            <a:solidFill>
              <a:srgbClr val="000000"/>
            </a:solidFill>
            <a:round/>
          </a:ln>
          <a:effectLst>
            <a:outerShdw algn="bl" blurRad="190440" dir="5400000" dist="38160" kx="0" ky="0" rotWithShape="0" sx="100000" sy="100000">
              <a:srgbClr val="10233f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0" name="Text 3"/>
          <p:cNvSpPr/>
          <p:nvPr/>
        </p:nvSpPr>
        <p:spPr>
          <a:xfrm>
            <a:off x="530280" y="942840"/>
            <a:ext cx="808308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4501"/>
              </a:lnSpc>
              <a:tabLst>
                <a:tab algn="l" pos="0"/>
              </a:tabLst>
            </a:pPr>
            <a:r>
              <a:rPr b="0" lang="en-US" sz="45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💻</a:t>
            </a:r>
            <a:endParaRPr b="0" lang="pt-BR" sz="4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4"/>
          <p:cNvSpPr/>
          <p:nvPr/>
        </p:nvSpPr>
        <p:spPr>
          <a:xfrm>
            <a:off x="530280" y="1666800"/>
            <a:ext cx="808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54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0233f"/>
                </a:solidFill>
                <a:latin typeface="Fraunces"/>
                <a:ea typeface="Fraunces"/>
              </a:rPr>
              <a:t>Agora é a nossa vez!</a:t>
            </a:r>
            <a:endParaRPr b="0" lang="pt-B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5"/>
          <p:cNvSpPr/>
          <p:nvPr/>
        </p:nvSpPr>
        <p:spPr>
          <a:xfrm>
            <a:off x="1371600" y="2505240"/>
            <a:ext cx="640044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3b5773"/>
                </a:solidFill>
                <a:latin typeface="-apple-system"/>
                <a:ea typeface="-apple-system"/>
              </a:rPr>
              <a:t>Vamos abrir o notebook no Google Colab, rodar juntos o pipeline do DESeq2 e caçar os genes mais afetados pela dexametasona.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6"/>
          <p:cNvSpPr/>
          <p:nvPr/>
        </p:nvSpPr>
        <p:spPr>
          <a:xfrm>
            <a:off x="788400" y="3467160"/>
            <a:ext cx="21564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▶️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7"/>
          <p:cNvSpPr/>
          <p:nvPr/>
        </p:nvSpPr>
        <p:spPr>
          <a:xfrm>
            <a:off x="788400" y="3809880"/>
            <a:ext cx="2156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Rodar o notebook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8"/>
          <p:cNvSpPr/>
          <p:nvPr/>
        </p:nvSpPr>
        <p:spPr>
          <a:xfrm>
            <a:off x="3493440" y="3467160"/>
            <a:ext cx="21564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🔎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9"/>
          <p:cNvSpPr/>
          <p:nvPr/>
        </p:nvSpPr>
        <p:spPr>
          <a:xfrm>
            <a:off x="3493440" y="3809880"/>
            <a:ext cx="2156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Achar top genes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10"/>
          <p:cNvSpPr/>
          <p:nvPr/>
        </p:nvSpPr>
        <p:spPr>
          <a:xfrm>
            <a:off x="6198840" y="3467160"/>
            <a:ext cx="21564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💬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11"/>
          <p:cNvSpPr/>
          <p:nvPr/>
        </p:nvSpPr>
        <p:spPr>
          <a:xfrm>
            <a:off x="6198840" y="3809880"/>
            <a:ext cx="2156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233f"/>
                </a:solidFill>
                <a:latin typeface="-apple-system"/>
                <a:ea typeface="-apple-system"/>
              </a:rPr>
              <a:t>Discutir em grupo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 0"/>
          <p:cNvSpPr/>
          <p:nvPr/>
        </p:nvSpPr>
        <p:spPr>
          <a:xfrm>
            <a:off x="530280" y="790560"/>
            <a:ext cx="808308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1251"/>
              </a:lnSpc>
              <a:tabLst>
                <a:tab algn="l" pos="0"/>
              </a:tabLst>
            </a:pPr>
            <a:r>
              <a:rPr b="0" lang="en-US" sz="7500" spc="-1" strike="noStrike">
                <a:solidFill>
                  <a:srgbClr val="10233f"/>
                </a:solidFill>
                <a:latin typeface="-apple-system"/>
                <a:ea typeface="-apple-system"/>
              </a:rPr>
              <a:t>🎉</a:t>
            </a:r>
            <a:endParaRPr b="0" lang="pt-BR" sz="7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 1"/>
          <p:cNvSpPr/>
          <p:nvPr/>
        </p:nvSpPr>
        <p:spPr>
          <a:xfrm>
            <a:off x="609480" y="2371680"/>
            <a:ext cx="792432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6301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2563eb"/>
                </a:solidFill>
                <a:latin typeface="Fraunces"/>
                <a:ea typeface="Fraunces"/>
              </a:rPr>
              <a:t>Bora rodar código e caçar genes!</a:t>
            </a:r>
            <a:endParaRPr b="0" lang="pt-B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2"/>
          <p:cNvSpPr/>
          <p:nvPr/>
        </p:nvSpPr>
        <p:spPr>
          <a:xfrm>
            <a:off x="530280" y="4124160"/>
            <a:ext cx="8083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ts val="18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b84a0"/>
                </a:solidFill>
                <a:latin typeface="-apple-system"/>
                <a:ea typeface="-apple-system"/>
              </a:rPr>
              <a:t>Perguntas? Dúvidas? Bugs no 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2026-07-21T11:13:13Z</dcterms:created>
  <dc:creator>Perplexity</dc:creator>
  <dc:description/>
  <dc:language>pt-BR</dc:language>
  <cp:lastModifiedBy/>
  <dcterms:modified xsi:type="dcterms:W3CDTF">2026-07-22T08:07:32Z</dcterms:modified>
  <cp:revision>2</cp:revision>
  <dc:subject>PptxGenJS Presentation</dc:subject>
  <dc:title>Converted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17</vt:i4>
  </property>
  <property fmtid="{D5CDD505-2E9C-101B-9397-08002B2CF9AE}" pid="3" name="PresentationFormat">
    <vt:lpwstr>On-screen Show (16:9)</vt:lpwstr>
  </property>
  <property fmtid="{D5CDD505-2E9C-101B-9397-08002B2CF9AE}" pid="4" name="Slides">
    <vt:i4>17</vt:i4>
  </property>
</Properties>
</file>