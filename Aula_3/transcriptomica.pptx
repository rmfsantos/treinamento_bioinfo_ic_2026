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62136"/>
            <a:ext cx="8083296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75"/>
              </a:lnSpc>
              <a:buNone/>
            </a:pPr>
            <a:r>
              <a:rPr lang="en-US" sz="825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🧬</a:t>
            </a:r>
            <a:endParaRPr lang="en-US" sz="8250" dirty="0"/>
          </a:p>
        </p:txBody>
      </p:sp>
      <p:sp>
        <p:nvSpPr>
          <p:cNvPr id="3" name="Text 1"/>
          <p:cNvSpPr/>
          <p:nvPr/>
        </p:nvSpPr>
        <p:spPr>
          <a:xfrm>
            <a:off x="609600" y="2386161"/>
            <a:ext cx="7924800" cy="1645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480"/>
              </a:lnSpc>
              <a:buNone/>
            </a:pPr>
            <a:r>
              <a:rPr lang="en-US" sz="4320" b="1" dirty="0">
                <a:solidFill>
                  <a:srgbClr val="2563E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Aula 3 — Uso do Colab e Introdução à Transcriptômica</a:t>
            </a:r>
            <a:endParaRPr lang="en-US" sz="4320" dirty="0"/>
          </a:p>
        </p:txBody>
      </p:sp>
      <p:sp>
        <p:nvSpPr>
          <p:cNvPr id="4" name="Text 2"/>
          <p:cNvSpPr/>
          <p:nvPr/>
        </p:nvSpPr>
        <p:spPr>
          <a:xfrm>
            <a:off x="530352" y="4184303"/>
            <a:ext cx="8083296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6B84A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Genes fofocando com a gente (e com o R)</a:t>
            </a:r>
            <a:endParaRPr lang="en-US" sz="15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0" y="981075"/>
            <a:ext cx="3771900" cy="3181350"/>
          </a:xfrm>
          <a:prstGeom prst="roundRect">
            <a:avLst>
              <a:gd name="adj" fmla="val 45988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849809"/>
            <a:ext cx="38473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Nossa ferramenta de hoje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600" y="1154609"/>
            <a:ext cx="3771900" cy="1919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40"/>
              </a:lnSpc>
              <a:buNone/>
            </a:pPr>
            <a:r>
              <a:rPr lang="en-US" sz="3360" b="1" dirty="0">
                <a:solidFill>
                  <a:srgbClr val="10233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Google Colab: R e Python direto no navegador</a:t>
            </a:r>
            <a:endParaRPr lang="en-US" sz="3360" dirty="0"/>
          </a:p>
        </p:txBody>
      </p:sp>
      <p:sp>
        <p:nvSpPr>
          <p:cNvPr id="5" name="Text 3"/>
          <p:cNvSpPr/>
          <p:nvPr/>
        </p:nvSpPr>
        <p:spPr>
          <a:xfrm>
            <a:off x="609600" y="3226891"/>
            <a:ext cx="37719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É um Jupyter Notebook na nuvem, gratuito, que já vem com bibliotecas de bioinformática instaláveis. Sem precisar instalar nada no seu computador!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76825" y="1295400"/>
            <a:ext cx="32061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Como funciona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76825" y="1638300"/>
            <a:ext cx="3143250" cy="220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🔗 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Acesse: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colab.research.google.com com sua conta Google</a:t>
            </a:r>
            <a:endParaRPr lang="en-US" sz="10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▶️ 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Células de código: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clique no play ou Shift+Enter pra executar</a:t>
            </a:r>
            <a:endParaRPr lang="en-US" sz="10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📝 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Células de texto: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markdown explicando cada passo</a:t>
            </a:r>
            <a:endParaRPr lang="en-US" sz="10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☁️ 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Roda na nuvem: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processamento no servidor do Google, não no seu PC</a:t>
            </a:r>
            <a:endParaRPr lang="en-US" sz="10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💾 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Salva no Drive: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tudo integrado, sem perder o trabalho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71650"/>
            <a:ext cx="3867150" cy="1314450"/>
          </a:xfrm>
          <a:prstGeom prst="roundRect">
            <a:avLst>
              <a:gd name="adj" fmla="val 111304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67250" y="1771650"/>
            <a:ext cx="3867150" cy="1314450"/>
          </a:xfrm>
          <a:prstGeom prst="roundRect">
            <a:avLst>
              <a:gd name="adj" fmla="val 111304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276600"/>
            <a:ext cx="3867150" cy="1314450"/>
          </a:xfrm>
          <a:prstGeom prst="roundRect">
            <a:avLst>
              <a:gd name="adj" fmla="val 111304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7250" y="3276600"/>
            <a:ext cx="3867150" cy="1314450"/>
          </a:xfrm>
          <a:prstGeom prst="roundRect">
            <a:avLst>
              <a:gd name="adj" fmla="val 111304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552450"/>
            <a:ext cx="8083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Agenda de hoje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9600" y="857250"/>
            <a:ext cx="8083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10233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 que vamos descobrir juntos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47725" y="2009775"/>
            <a:ext cx="345871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🕵️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7725" y="2390775"/>
            <a:ext cx="34587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Por que estudar transcriptômica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7725" y="2657475"/>
            <a:ext cx="34587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Aplicações reais, de remédio a diagnóstico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05375" y="2009775"/>
            <a:ext cx="345871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🧪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05375" y="2390775"/>
            <a:ext cx="34587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 dataset "airway"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05375" y="2657475"/>
            <a:ext cx="34587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Células de pulmão tratadas com remédio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47725" y="3514725"/>
            <a:ext cx="345871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⚙️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7725" y="3895725"/>
            <a:ext cx="34587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Pipeline do DESeq2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7725" y="4162425"/>
            <a:ext cx="34587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Passo a passo no notebook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05375" y="3514725"/>
            <a:ext cx="345871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📊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05375" y="3895725"/>
            <a:ext cx="34587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Lendo os resultados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05375" y="4162425"/>
            <a:ext cx="34587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Gráficos e genes "suspeitos"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0" y="1400175"/>
            <a:ext cx="3771900" cy="2343150"/>
          </a:xfrm>
          <a:prstGeom prst="roundRect">
            <a:avLst>
              <a:gd name="adj" fmla="val 62439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76498"/>
            <a:ext cx="38473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Conceito chave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600" y="381298"/>
            <a:ext cx="3771900" cy="3199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40"/>
              </a:lnSpc>
              <a:buNone/>
            </a:pPr>
            <a:r>
              <a:rPr lang="en-US" sz="3360" b="1" dirty="0">
                <a:solidFill>
                  <a:srgbClr val="10233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Genoma é a receita, transcriptoma é o que tá sendo cozinhado agora</a:t>
            </a:r>
            <a:endParaRPr lang="en-US" sz="3360" dirty="0"/>
          </a:p>
        </p:txBody>
      </p:sp>
      <p:sp>
        <p:nvSpPr>
          <p:cNvPr id="5" name="Text 3"/>
          <p:cNvSpPr/>
          <p:nvPr/>
        </p:nvSpPr>
        <p:spPr>
          <a:xfrm>
            <a:off x="609600" y="3733502"/>
            <a:ext cx="37719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 DNA é fixo, igual em quase toda célula do seu corpo. Já o RNA (transcriptoma) muda a cada minuto — é o "story" da célula, mostrando o que ela está fazendo agora.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45393" y="1714500"/>
            <a:ext cx="320611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📖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5045393" y="2400300"/>
            <a:ext cx="32061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DNA = livro completo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45393" y="2743200"/>
            <a:ext cx="320611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⬇️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5045393" y="3162300"/>
            <a:ext cx="32061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RNA = página aberta agora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53170"/>
            <a:ext cx="3848100" cy="2147888"/>
          </a:xfrm>
          <a:prstGeom prst="roundRect">
            <a:avLst>
              <a:gd name="adj" fmla="val 68115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047875" y="2967633"/>
            <a:ext cx="133350" cy="366713"/>
          </a:xfrm>
          <a:prstGeom prst="roundRect">
            <a:avLst>
              <a:gd name="adj" fmla="val 274286"/>
            </a:avLst>
          </a:prstGeom>
          <a:solidFill>
            <a:srgbClr val="2563E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257425" y="3100983"/>
            <a:ext cx="133350" cy="233362"/>
          </a:xfrm>
          <a:prstGeom prst="roundRect">
            <a:avLst>
              <a:gd name="adj" fmla="val 274286"/>
            </a:avLst>
          </a:prstGeom>
          <a:solidFill>
            <a:srgbClr val="2563E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676525" y="3200995"/>
            <a:ext cx="133350" cy="133350"/>
          </a:xfrm>
          <a:prstGeom prst="roundRect">
            <a:avLst>
              <a:gd name="adj" fmla="val 274286"/>
            </a:avLst>
          </a:prstGeom>
          <a:solidFill>
            <a:srgbClr val="2563E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886075" y="3034308"/>
            <a:ext cx="133350" cy="300038"/>
          </a:xfrm>
          <a:prstGeom prst="roundRect">
            <a:avLst>
              <a:gd name="adj" fmla="val 274286"/>
            </a:avLst>
          </a:prstGeom>
          <a:solidFill>
            <a:srgbClr val="2563E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86300" y="1553170"/>
            <a:ext cx="3848100" cy="2147888"/>
          </a:xfrm>
          <a:prstGeom prst="roundRect">
            <a:avLst>
              <a:gd name="adj" fmla="val 68115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124575" y="2734270"/>
            <a:ext cx="133350" cy="600075"/>
          </a:xfrm>
          <a:prstGeom prst="roundRect">
            <a:avLst>
              <a:gd name="adj" fmla="val 274286"/>
            </a:avLst>
          </a:prstGeom>
          <a:solidFill>
            <a:srgbClr val="F9706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34125" y="3134320"/>
            <a:ext cx="133350" cy="200025"/>
          </a:xfrm>
          <a:prstGeom prst="roundRect">
            <a:avLst>
              <a:gd name="adj" fmla="val 274286"/>
            </a:avLst>
          </a:prstGeom>
          <a:solidFill>
            <a:srgbClr val="2563E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543675" y="3267670"/>
            <a:ext cx="133350" cy="66675"/>
          </a:xfrm>
          <a:prstGeom prst="roundRect">
            <a:avLst>
              <a:gd name="adj" fmla="val 548571"/>
            </a:avLst>
          </a:prstGeom>
          <a:solidFill>
            <a:srgbClr val="F9706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53225" y="3187750"/>
            <a:ext cx="133350" cy="146596"/>
          </a:xfrm>
          <a:prstGeom prst="roundRect">
            <a:avLst>
              <a:gd name="adj" fmla="val 274286"/>
            </a:avLst>
          </a:prstGeom>
          <a:solidFill>
            <a:srgbClr val="2563E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962775" y="3014365"/>
            <a:ext cx="133350" cy="319980"/>
          </a:xfrm>
          <a:prstGeom prst="roundRect">
            <a:avLst>
              <a:gd name="adj" fmla="val 274286"/>
            </a:avLst>
          </a:prstGeom>
          <a:solidFill>
            <a:srgbClr val="2563E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9600" y="3853458"/>
            <a:ext cx="7924800" cy="704850"/>
          </a:xfrm>
          <a:prstGeom prst="roundRect">
            <a:avLst>
              <a:gd name="adj" fmla="val 207568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4445" y="4263033"/>
            <a:ext cx="114300" cy="114300"/>
          </a:xfrm>
          <a:prstGeom prst="roundRect">
            <a:avLst>
              <a:gd name="adj" fmla="val 240000"/>
            </a:avLst>
          </a:prstGeom>
          <a:solidFill>
            <a:srgbClr val="F9706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17094" y="4263033"/>
            <a:ext cx="114300" cy="114300"/>
          </a:xfrm>
          <a:prstGeom prst="roundRect">
            <a:avLst>
              <a:gd name="adj" fmla="val 240000"/>
            </a:avLst>
          </a:prstGeom>
          <a:solidFill>
            <a:srgbClr val="F9706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931991" y="4263033"/>
            <a:ext cx="114300" cy="114300"/>
          </a:xfrm>
          <a:prstGeom prst="roundRect">
            <a:avLst>
              <a:gd name="adj" fmla="val 240000"/>
            </a:avLst>
          </a:prstGeom>
          <a:solidFill>
            <a:srgbClr val="2563E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9600" y="585341"/>
            <a:ext cx="8083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 organismo ao gene diferencial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9600" y="852041"/>
            <a:ext cx="8083296" cy="548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880" b="1" dirty="0">
                <a:solidFill>
                  <a:srgbClr val="10233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Comparando dois transcriptomas na prática</a:t>
            </a:r>
            <a:endParaRPr lang="en-US" sz="2880" dirty="0"/>
          </a:p>
        </p:txBody>
      </p:sp>
      <p:sp>
        <p:nvSpPr>
          <p:cNvPr id="19" name="Text 17"/>
          <p:cNvSpPr/>
          <p:nvPr/>
        </p:nvSpPr>
        <p:spPr>
          <a:xfrm>
            <a:off x="775145" y="1753195"/>
            <a:ext cx="351701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🌱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775145" y="2134195"/>
            <a:ext cx="35170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Organismo controle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5145" y="2438995"/>
            <a:ext cx="35170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84A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Reads sequenciados (por gene)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78682" y="3372445"/>
            <a:ext cx="12341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6B84A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G1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2275880" y="3372445"/>
            <a:ext cx="12341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6B84A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G2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2473077" y="3372445"/>
            <a:ext cx="12341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6B84A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G3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2670274" y="3372445"/>
            <a:ext cx="12341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6B84A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G4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2867471" y="3372445"/>
            <a:ext cx="12341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6B84A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G5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4851845" y="1753195"/>
            <a:ext cx="351701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🌿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4851845" y="2134195"/>
            <a:ext cx="35170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Organismo tratado (estresse/fármaco)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51845" y="2438995"/>
            <a:ext cx="35170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84A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Reads sequenciados (por gene)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55382" y="3372445"/>
            <a:ext cx="12341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6B84A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G1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6352580" y="3372445"/>
            <a:ext cx="12341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6B84A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G2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6549777" y="3372445"/>
            <a:ext cx="12341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6B84A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G3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6746974" y="3372445"/>
            <a:ext cx="12341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6B84A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G4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6944171" y="3372445"/>
            <a:ext cx="12341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6B84A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G5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695516" y="4015383"/>
            <a:ext cx="77529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84A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⬇️ DESeq2 compara cada gene entre os grupos ⬇️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84945" y="4243983"/>
            <a:ext cx="22476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Gene 1: sobe forte (padj &lt; 0.05) → </a:t>
            </a:r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07594" y="4243983"/>
            <a:ext cx="21377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Gene 3: cai forte (padj &lt; 0.05) → </a:t>
            </a:r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22491" y="4243983"/>
            <a:ext cx="22714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Genes 2, 4, 5: sem diferença relevante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924050"/>
            <a:ext cx="3867150" cy="1504950"/>
          </a:xfrm>
          <a:prstGeom prst="roundRect">
            <a:avLst>
              <a:gd name="adj" fmla="val 97215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67250" y="1924050"/>
            <a:ext cx="3867150" cy="1504950"/>
          </a:xfrm>
          <a:prstGeom prst="roundRect">
            <a:avLst>
              <a:gd name="adj" fmla="val 97215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619500"/>
            <a:ext cx="3867150" cy="1504950"/>
          </a:xfrm>
          <a:prstGeom prst="roundRect">
            <a:avLst>
              <a:gd name="adj" fmla="val 97215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7250" y="3619500"/>
            <a:ext cx="3867150" cy="1504950"/>
          </a:xfrm>
          <a:prstGeom prst="roundRect">
            <a:avLst>
              <a:gd name="adj" fmla="val 97215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19050"/>
            <a:ext cx="8083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Pra que serve isso na vida real?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9600" y="323850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10233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 exemplos que provam que não é só teoria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47725" y="2162175"/>
            <a:ext cx="345871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7725" y="2543175"/>
            <a:ext cx="34587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Descoberta de remédios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7725" y="2809875"/>
            <a:ext cx="3390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Ver quais genes um fármaco "liga" ou "desliga" nas células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05375" y="2162175"/>
            <a:ext cx="345871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🦷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05375" y="2543175"/>
            <a:ext cx="34587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Odontologia e inflamação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05375" y="2809875"/>
            <a:ext cx="3390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Entender genes ativados em gengivite ou periodontite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47725" y="3857625"/>
            <a:ext cx="345871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🎗️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7725" y="4238625"/>
            <a:ext cx="34587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Câncer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7725" y="4505325"/>
            <a:ext cx="3390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Identificar genes hiperativos em tumores para terapias-alvo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05375" y="3857625"/>
            <a:ext cx="345871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🌱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05375" y="4238625"/>
            <a:ext cx="34587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Agricultura e plantas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05375" y="4505325"/>
            <a:ext cx="34587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Descobrir genes de resistência à seca ou pragas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28875"/>
            <a:ext cx="1493490" cy="1123950"/>
          </a:xfrm>
          <a:prstGeom prst="roundRect">
            <a:avLst>
              <a:gd name="adj" fmla="val 130169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17390" y="2428875"/>
            <a:ext cx="1493490" cy="1123950"/>
          </a:xfrm>
          <a:prstGeom prst="roundRect">
            <a:avLst>
              <a:gd name="adj" fmla="val 130169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25180" y="2428875"/>
            <a:ext cx="1493490" cy="1123950"/>
          </a:xfrm>
          <a:prstGeom prst="roundRect">
            <a:avLst>
              <a:gd name="adj" fmla="val 130169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32971" y="2428875"/>
            <a:ext cx="1493490" cy="1123950"/>
          </a:xfrm>
          <a:prstGeom prst="roundRect">
            <a:avLst>
              <a:gd name="adj" fmla="val 130169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040761" y="2428875"/>
            <a:ext cx="1493639" cy="1123950"/>
          </a:xfrm>
          <a:prstGeom prst="roundRect">
            <a:avLst>
              <a:gd name="adj" fmla="val 130169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1133475"/>
            <a:ext cx="8083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 tubo de ensaio ao computador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9600" y="1438275"/>
            <a:ext cx="8083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10233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 caminho do RNA-seq em 5 passos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59829" y="2590800"/>
            <a:ext cx="11930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🧫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759829" y="3009900"/>
            <a:ext cx="11930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1. Extrair RNA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67619" y="2590800"/>
            <a:ext cx="11930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🔬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2367619" y="3009900"/>
            <a:ext cx="11930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2. Sequenciar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975409" y="2590800"/>
            <a:ext cx="11930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💻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3987105" y="3009900"/>
            <a:ext cx="11696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3. Alinhar/contar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583199" y="2590800"/>
            <a:ext cx="11930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📋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5594896" y="3009900"/>
            <a:ext cx="11696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4. Matriz de contagem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190988" y="2590800"/>
            <a:ext cx="119318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📈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7202686" y="3009900"/>
            <a:ext cx="11697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5. Análise (DESeq2)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9600" y="3781425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Hoje vamos entrar direto no passo 4 e 5 — a matriz já vem pronta no dataset que usaremos!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61171"/>
            <a:ext cx="2514600" cy="1276350"/>
          </a:xfrm>
          <a:prstGeom prst="roundRect">
            <a:avLst>
              <a:gd name="adj" fmla="val 114627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14700" y="2461171"/>
            <a:ext cx="2514600" cy="1276350"/>
          </a:xfrm>
          <a:prstGeom prst="roundRect">
            <a:avLst>
              <a:gd name="adj" fmla="val 114627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19800" y="2461171"/>
            <a:ext cx="2514600" cy="1276350"/>
          </a:xfrm>
          <a:prstGeom prst="roundRect">
            <a:avLst>
              <a:gd name="adj" fmla="val 114627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928021"/>
            <a:ext cx="7924800" cy="1276350"/>
          </a:xfrm>
          <a:prstGeom prst="roundRect">
            <a:avLst>
              <a:gd name="adj" fmla="val 114627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-60871"/>
            <a:ext cx="8083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 passo que a gente não vê no notebook hoje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9600" y="243929"/>
            <a:ext cx="7924800" cy="1188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80"/>
              </a:lnSpc>
              <a:buNone/>
            </a:pPr>
            <a:r>
              <a:rPr lang="en-US" sz="3120" b="1" dirty="0">
                <a:solidFill>
                  <a:srgbClr val="10233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Alinhamento e contagem: de onde vem a matriz</a:t>
            </a:r>
            <a:endParaRPr lang="en-US" sz="3120" dirty="0"/>
          </a:p>
        </p:txBody>
      </p:sp>
      <p:sp>
        <p:nvSpPr>
          <p:cNvPr id="8" name="Text 6"/>
          <p:cNvSpPr/>
          <p:nvPr/>
        </p:nvSpPr>
        <p:spPr>
          <a:xfrm>
            <a:off x="609600" y="1584871"/>
            <a:ext cx="792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Antes da matriz de contagens chegar prontinha, os milhões de "pedacinhos" de RNA sequenciados (reads) precisam ser comparados a um genoma de referência — é aí que sabemos de qual gene cada read veio.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9625" y="2661196"/>
            <a:ext cx="215684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🧭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625" y="3004096"/>
            <a:ext cx="21568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HISAT2 / STAR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9625" y="3232696"/>
            <a:ext cx="2114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Alinham reads ao genoma de referência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14725" y="2661196"/>
            <a:ext cx="215684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14725" y="3004096"/>
            <a:ext cx="21568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featureCounts / HTSeq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14725" y="3232696"/>
            <a:ext cx="2114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Contam quantos reads caíram em cada gene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19825" y="2661196"/>
            <a:ext cx="215684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⚡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19825" y="3004096"/>
            <a:ext cx="21568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Salmon / Kallisto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19825" y="3232696"/>
            <a:ext cx="2114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Alinhamento "pseudo", bem mais rápido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9625" y="4128046"/>
            <a:ext cx="76752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⏱️ Quanto tempo demora?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9625" y="4432846"/>
            <a:ext cx="7524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Para uma amostra humana típica (~20-30 milhões de reads): alinhamento tradicional (STAR) leva de 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15 a 40 minutos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por amostra; métodos pseudo-alinhamento (Salmon) fazem em 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 a 5 minutos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 Por isso hoje pulamos essa etapa e já usamos a matriz pronta do pacote airway!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80221"/>
            <a:ext cx="2514600" cy="1428750"/>
          </a:xfrm>
          <a:prstGeom prst="roundRect">
            <a:avLst>
              <a:gd name="adj" fmla="val 102400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14700" y="2480221"/>
            <a:ext cx="2514600" cy="1428750"/>
          </a:xfrm>
          <a:prstGeom prst="roundRect">
            <a:avLst>
              <a:gd name="adj" fmla="val 102400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19800" y="2480221"/>
            <a:ext cx="2514600" cy="1428750"/>
          </a:xfrm>
          <a:prstGeom prst="roundRect">
            <a:avLst>
              <a:gd name="adj" fmla="val 102400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4099471"/>
            <a:ext cx="7924800" cy="1085850"/>
          </a:xfrm>
          <a:prstGeom prst="roundRect">
            <a:avLst>
              <a:gd name="adj" fmla="val 134737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-41821"/>
            <a:ext cx="8083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Quando não existe genoma de referência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9600" y="262979"/>
            <a:ext cx="7924800" cy="1188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80"/>
              </a:lnSpc>
              <a:buNone/>
            </a:pPr>
            <a:r>
              <a:rPr lang="en-US" sz="3120" b="1" dirty="0">
                <a:solidFill>
                  <a:srgbClr val="10233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Montadores (assemblers): montando o quebra-cabeça do zero</a:t>
            </a:r>
            <a:endParaRPr lang="en-US" sz="3120" dirty="0"/>
          </a:p>
        </p:txBody>
      </p:sp>
      <p:sp>
        <p:nvSpPr>
          <p:cNvPr id="8" name="Text 6"/>
          <p:cNvSpPr/>
          <p:nvPr/>
        </p:nvSpPr>
        <p:spPr>
          <a:xfrm>
            <a:off x="609600" y="1603921"/>
            <a:ext cx="792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Em organismos sem genoma de referência bom (como muitas plantas e orquídeas!), não dá pra alinhar. Aí usamos montagem </a:t>
            </a:r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 novo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: juntar os pedacinhos (reads) como um quebra-cabeça, sem gabarito.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9625" y="2680246"/>
            <a:ext cx="215684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🧩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625" y="3023146"/>
            <a:ext cx="21568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Trinity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9625" y="3251746"/>
            <a:ext cx="2114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Padrão-ouro para montagem de novo de transcriptoma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14725" y="2680246"/>
            <a:ext cx="215684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🕸️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14725" y="3023146"/>
            <a:ext cx="21568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SPAdes / rnaSPAdes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14725" y="3251746"/>
            <a:ext cx="2114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Popular em genomas e transcriptomas, rápido e leve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19825" y="2680246"/>
            <a:ext cx="215684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🧵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19825" y="3023146"/>
            <a:ext cx="21568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StringTie / Cufflinks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19825" y="3251746"/>
            <a:ext cx="2114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Montagem guiada por referência (quando ela existe, mas é incompleta)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9625" y="4299496"/>
            <a:ext cx="76752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⏱️ Tempo e recursos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9625" y="4604296"/>
            <a:ext cx="7524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Trinity pode levar de 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algumas horas a vários dias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e exigir 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50-200 GB de RAM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para transcriptomas complexos (ex.: plantas poliploides). Por isso, muitas vezes é rodado em clusters, não no Colab.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0" y="1304925"/>
            <a:ext cx="3771900" cy="2533650"/>
          </a:xfrm>
          <a:prstGeom prst="roundRect">
            <a:avLst>
              <a:gd name="adj" fmla="val 57744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082129"/>
            <a:ext cx="38473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Nosso caso de estudo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600" y="1386929"/>
            <a:ext cx="3771900" cy="1188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80"/>
              </a:lnSpc>
              <a:buNone/>
            </a:pPr>
            <a:r>
              <a:rPr lang="en-US" sz="3120" b="1" dirty="0">
                <a:solidFill>
                  <a:srgbClr val="10233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 dataset "airway" 🫁</a:t>
            </a:r>
            <a:endParaRPr lang="en-US" sz="3120" dirty="0"/>
          </a:p>
        </p:txBody>
      </p:sp>
      <p:sp>
        <p:nvSpPr>
          <p:cNvPr id="5" name="Text 3"/>
          <p:cNvSpPr/>
          <p:nvPr/>
        </p:nvSpPr>
        <p:spPr>
          <a:xfrm>
            <a:off x="609600" y="2727871"/>
            <a:ext cx="37719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Células de vias aéreas humanas (pulmão) cultivadas em laboratório. Algumas amostras foram tratadas com dexametasona (um anti-inflamatório), outras ficaram só de controle.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76825" y="1619250"/>
            <a:ext cx="32061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Ficha técnica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76825" y="1962150"/>
            <a:ext cx="314325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📦 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Origem: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Bioconductor (pacote livre e didático)</a:t>
            </a:r>
            <a:endParaRPr lang="en-US" sz="10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🧬 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63.677 genes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x 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8 amostras</a:t>
            </a:r>
            <a:endParaRPr lang="en-US" sz="10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💉 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 pacientes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, cada um com tratado e não-tratado</a:t>
            </a:r>
            <a:endParaRPr lang="en-US" sz="10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🎯 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Pergunta: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quais genes mudam com o remédio?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730698"/>
            <a:ext cx="7924800" cy="1571625"/>
          </a:xfrm>
          <a:prstGeom prst="roundRect">
            <a:avLst>
              <a:gd name="adj" fmla="val 93091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1525" y="2892623"/>
          <a:ext cx="7600950" cy="1247775"/>
        </p:xfrm>
        <a:graphic>
          <a:graphicData uri="http://schemas.openxmlformats.org/drawingml/2006/table">
            <a:tbl>
              <a:tblPr/>
              <a:tblGrid>
                <a:gridCol w="1520190"/>
                <a:gridCol w="1520190"/>
                <a:gridCol w="1520190"/>
                <a:gridCol w="1520190"/>
                <a:gridCol w="1520190"/>
              </a:tblGrid>
              <a:tr h="3119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B84A0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Gene</a:t>
                      </a:r>
                      <a:endParaRPr lang="en-US" sz="90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B84A0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SRR...508</a:t>
                      </a:r>
                      <a:endParaRPr lang="en-US" sz="90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B84A0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SRR...509</a:t>
                      </a:r>
                      <a:endParaRPr lang="en-US" sz="90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B84A0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SRR...512</a:t>
                      </a:r>
                      <a:endParaRPr lang="en-US" sz="90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B84A0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SRR...513</a:t>
                      </a:r>
                      <a:endParaRPr lang="en-US" sz="90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19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233F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ENSG...0003</a:t>
                      </a:r>
                      <a:endParaRPr lang="en-US" sz="9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233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679</a:t>
                      </a:r>
                      <a:endParaRPr lang="en-US" sz="90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233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448</a:t>
                      </a:r>
                      <a:endParaRPr lang="en-US" sz="90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233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873</a:t>
                      </a:r>
                      <a:endParaRPr lang="en-US" sz="90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233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408</a:t>
                      </a:r>
                      <a:endParaRPr lang="en-US" sz="90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19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233F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ENSG...0005</a:t>
                      </a:r>
                      <a:endParaRPr lang="en-US" sz="9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233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0</a:t>
                      </a:r>
                      <a:endParaRPr lang="en-US" sz="90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233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0</a:t>
                      </a:r>
                      <a:endParaRPr lang="en-US" sz="90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233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0</a:t>
                      </a:r>
                      <a:endParaRPr lang="en-US" sz="90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233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0</a:t>
                      </a:r>
                      <a:endParaRPr lang="en-US" sz="90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19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233F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ENSG...0419</a:t>
                      </a:r>
                      <a:endParaRPr lang="en-US" sz="9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233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467</a:t>
                      </a:r>
                      <a:endParaRPr lang="en-US" sz="90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233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515</a:t>
                      </a:r>
                      <a:endParaRPr lang="en-US" sz="90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233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621</a:t>
                      </a:r>
                      <a:endParaRPr lang="en-US" sz="90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233F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365</a:t>
                      </a:r>
                      <a:endParaRPr lang="en-US" sz="90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09600" y="841028"/>
            <a:ext cx="8083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planilha gigante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09600" y="1145828"/>
            <a:ext cx="8083296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80"/>
              </a:lnSpc>
              <a:buNone/>
            </a:pPr>
            <a:r>
              <a:rPr lang="en-US" sz="3120" b="1" dirty="0">
                <a:solidFill>
                  <a:srgbClr val="10233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matriz de contagens: genes x amostras</a:t>
            </a:r>
            <a:endParaRPr lang="en-US" sz="3120" dirty="0"/>
          </a:p>
        </p:txBody>
      </p:sp>
      <p:sp>
        <p:nvSpPr>
          <p:cNvPr id="6" name="Text 3"/>
          <p:cNvSpPr/>
          <p:nvPr/>
        </p:nvSpPr>
        <p:spPr>
          <a:xfrm>
            <a:off x="609600" y="1892498"/>
            <a:ext cx="792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Cada linha é um gene, cada coluna é uma amostra. O número é quantas vezes aquele gene "apareceu" no sequenciamento — pensem como contar quantas vezes uma palavra aparece num texto.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438525"/>
            <a:ext cx="2514600" cy="933450"/>
          </a:xfrm>
          <a:prstGeom prst="roundRect">
            <a:avLst>
              <a:gd name="adj" fmla="val 156735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14700" y="3438525"/>
            <a:ext cx="2514600" cy="933450"/>
          </a:xfrm>
          <a:prstGeom prst="roundRect">
            <a:avLst>
              <a:gd name="adj" fmla="val 156735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19800" y="3438525"/>
            <a:ext cx="2514600" cy="933450"/>
          </a:xfrm>
          <a:prstGeom prst="roundRect">
            <a:avLst>
              <a:gd name="adj" fmla="val 156735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0352" y="771525"/>
            <a:ext cx="808329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🕵️‍♀️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530352" y="1495425"/>
            <a:ext cx="8083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10233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DESeq2: o detetive dos genes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2333625"/>
            <a:ext cx="64008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É um pacote de R que compara os grupos (tratado vs controle) e aponta quais genes mudaram de forma estatisticamente relevante — sem cair em "achismo" ou coincidência.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88480" y="3638550"/>
            <a:ext cx="215684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88480" y="3981450"/>
            <a:ext cx="21568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Normaliza os dados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93579" y="3638550"/>
            <a:ext cx="215684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🎲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93579" y="3981450"/>
            <a:ext cx="21568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Modela a variação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98679" y="3638550"/>
            <a:ext cx="215684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✅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98679" y="3981450"/>
            <a:ext cx="21568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Testa significância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49661"/>
            <a:ext cx="7924800" cy="628650"/>
          </a:xfrm>
          <a:prstGeom prst="roundRect">
            <a:avLst>
              <a:gd name="adj" fmla="val 232727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792611"/>
            <a:ext cx="7924800" cy="628650"/>
          </a:xfrm>
          <a:prstGeom prst="roundRect">
            <a:avLst>
              <a:gd name="adj" fmla="val 232727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535561"/>
            <a:ext cx="7924800" cy="628650"/>
          </a:xfrm>
          <a:prstGeom prst="roundRect">
            <a:avLst>
              <a:gd name="adj" fmla="val 232727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4278511"/>
            <a:ext cx="7924800" cy="628650"/>
          </a:xfrm>
          <a:prstGeom prst="roundRect">
            <a:avLst>
              <a:gd name="adj" fmla="val 232727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236339"/>
            <a:ext cx="8083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 notebook, é assim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9600" y="541139"/>
            <a:ext cx="7924800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40"/>
              </a:lnSpc>
              <a:buNone/>
            </a:pPr>
            <a:r>
              <a:rPr lang="en-US" sz="3360" b="1" dirty="0">
                <a:solidFill>
                  <a:srgbClr val="10233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 pipeline do DESeq2, em bom português</a:t>
            </a:r>
            <a:endParaRPr lang="en-US" sz="3360" dirty="0"/>
          </a:p>
        </p:txBody>
      </p:sp>
      <p:sp>
        <p:nvSpPr>
          <p:cNvPr id="8" name="Text 6"/>
          <p:cNvSpPr/>
          <p:nvPr/>
        </p:nvSpPr>
        <p:spPr>
          <a:xfrm>
            <a:off x="771525" y="2211586"/>
            <a:ext cx="28827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1️⃣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06550" y="2268736"/>
            <a:ext cx="58384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Criar o objeto DESeqDataSet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juntar contagens + metadados (quem foi tratado)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1525" y="2954536"/>
            <a:ext cx="28827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2️⃣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06550" y="3011686"/>
            <a:ext cx="49603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Filtrar genes fracos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remover genes quase sem contagem (só ruído)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1525" y="3697486"/>
            <a:ext cx="28827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3️⃣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06550" y="3754636"/>
            <a:ext cx="53055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Rodar DESeq()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normaliza, estima variação e testa tudo automaticamente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1525" y="4440436"/>
            <a:ext cx="28827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4️⃣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06550" y="4497586"/>
            <a:ext cx="51092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Extrair resultados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tabela final com os genes "campeões" da diferença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287786"/>
            <a:ext cx="2514600" cy="1695450"/>
          </a:xfrm>
          <a:prstGeom prst="roundRect">
            <a:avLst>
              <a:gd name="adj" fmla="val 86292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14700" y="2287786"/>
            <a:ext cx="2514600" cy="1695450"/>
          </a:xfrm>
          <a:prstGeom prst="roundRect">
            <a:avLst>
              <a:gd name="adj" fmla="val 86292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19800" y="2287786"/>
            <a:ext cx="2514600" cy="1695450"/>
          </a:xfrm>
          <a:prstGeom prst="roundRect">
            <a:avLst>
              <a:gd name="adj" fmla="val 86292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160115"/>
            <a:ext cx="8083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tabela de resultados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600" y="1464915"/>
            <a:ext cx="8083296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80"/>
              </a:lnSpc>
              <a:buNone/>
            </a:pPr>
            <a:r>
              <a:rPr lang="en-US" sz="3120" b="1" dirty="0">
                <a:solidFill>
                  <a:srgbClr val="10233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 colunas que você precisa entender</a:t>
            </a:r>
            <a:endParaRPr lang="en-US" sz="3120" dirty="0"/>
          </a:p>
        </p:txBody>
      </p:sp>
      <p:sp>
        <p:nvSpPr>
          <p:cNvPr id="7" name="Text 5"/>
          <p:cNvSpPr/>
          <p:nvPr/>
        </p:nvSpPr>
        <p:spPr>
          <a:xfrm>
            <a:off x="847725" y="2525911"/>
            <a:ext cx="207911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📶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7725" y="2906911"/>
            <a:ext cx="20791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log2FoldChange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7725" y="3173611"/>
            <a:ext cx="20383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 quanto o gene mudou. Positivo = subiu, negativo = caiu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552825" y="2525911"/>
            <a:ext cx="207911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🎯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52825" y="2906911"/>
            <a:ext cx="20791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p-value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52825" y="3173611"/>
            <a:ext cx="2038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chance de essa diferença ser só sorte/acaso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57925" y="2525911"/>
            <a:ext cx="207911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🛡️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57925" y="2906911"/>
            <a:ext cx="20791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padj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57925" y="3173611"/>
            <a:ext cx="20383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p-value corrigido — porque testamos milhares de genes de uma vez!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0" y="1838325"/>
            <a:ext cx="3771900" cy="1466850"/>
          </a:xfrm>
          <a:prstGeom prst="roundRect">
            <a:avLst>
              <a:gd name="adj" fmla="val 99740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834479"/>
            <a:ext cx="38473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Vendo é crer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600" y="1139279"/>
            <a:ext cx="3771900" cy="1188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80"/>
              </a:lnSpc>
              <a:buNone/>
            </a:pPr>
            <a:r>
              <a:rPr lang="en-US" sz="3120" b="1" dirty="0">
                <a:solidFill>
                  <a:srgbClr val="10233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Os gráficos que contam a história</a:t>
            </a:r>
            <a:endParaRPr lang="en-US" sz="3120" dirty="0"/>
          </a:p>
        </p:txBody>
      </p:sp>
      <p:sp>
        <p:nvSpPr>
          <p:cNvPr id="5" name="Text 3"/>
          <p:cNvSpPr/>
          <p:nvPr/>
        </p:nvSpPr>
        <p:spPr>
          <a:xfrm>
            <a:off x="609600" y="2480221"/>
            <a:ext cx="37719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🌋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Volcano plot: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mostra magnitude (eixo X) x significância (eixo Y) — os genes "explosivos" ficam nos cantos superiores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🗺️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PCA: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agrupa amostras parecidas — tratados de um lado, controles de outro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📉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MA-plot: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expressão média x mudança, útil pra ver qualidade geral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45393" y="2152650"/>
            <a:ext cx="320611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🌋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5045393" y="2800350"/>
            <a:ext cx="32061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84A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Pontos coloridos = genes significativos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267075"/>
            <a:ext cx="2514600" cy="933450"/>
          </a:xfrm>
          <a:prstGeom prst="roundRect">
            <a:avLst>
              <a:gd name="adj" fmla="val 156735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14700" y="3267075"/>
            <a:ext cx="2514600" cy="933450"/>
          </a:xfrm>
          <a:prstGeom prst="roundRect">
            <a:avLst>
              <a:gd name="adj" fmla="val 156735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19800" y="3267075"/>
            <a:ext cx="2514600" cy="933450"/>
          </a:xfrm>
          <a:prstGeom prst="roundRect">
            <a:avLst>
              <a:gd name="adj" fmla="val 156735"/>
            </a:avLst>
          </a:prstGeom>
          <a:noFill/>
          <a:ln w="9525">
            <a:solidFill>
              <a:srgbClr val="000000"/>
            </a:solidFill>
          </a:ln>
          <a:effectLst>
            <a:outerShdw sx="100000" sy="100000" kx="0" ky="0" algn="bl" rotWithShape="0" blurRad="190500" dist="38100" dir="540000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0352" y="942975"/>
            <a:ext cx="808329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💻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530352" y="1666875"/>
            <a:ext cx="8083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10233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Agora é a nossa vez!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2505075"/>
            <a:ext cx="6400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B57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Vamos abrir o notebook no Google Colab, rodar juntos o pipeline do DESeq2 e caçar os genes mais afetados pela dexametasona.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88480" y="3467100"/>
            <a:ext cx="215684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▶️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88480" y="3810000"/>
            <a:ext cx="21568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Rodar o notebook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93579" y="3467100"/>
            <a:ext cx="215684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🔎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93579" y="3810000"/>
            <a:ext cx="21568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Achar top genes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98679" y="3467100"/>
            <a:ext cx="215684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💬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98679" y="3810000"/>
            <a:ext cx="21568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Discutir em grupo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790575"/>
            <a:ext cx="8083296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0"/>
              </a:lnSpc>
              <a:buNone/>
            </a:pPr>
            <a:r>
              <a:rPr lang="en-US" sz="7500" dirty="0">
                <a:solidFill>
                  <a:srgbClr val="10233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🎉</a:t>
            </a:r>
            <a:endParaRPr lang="en-US" sz="7500" dirty="0"/>
          </a:p>
        </p:txBody>
      </p:sp>
      <p:sp>
        <p:nvSpPr>
          <p:cNvPr id="3" name="Text 1"/>
          <p:cNvSpPr/>
          <p:nvPr/>
        </p:nvSpPr>
        <p:spPr>
          <a:xfrm>
            <a:off x="609600" y="2371725"/>
            <a:ext cx="792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300"/>
              </a:lnSpc>
              <a:buNone/>
            </a:pPr>
            <a:r>
              <a:rPr lang="en-US" sz="4200" b="1" dirty="0">
                <a:solidFill>
                  <a:srgbClr val="2563E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Bora rodar código e caçar genes!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30352" y="4124325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84A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Perguntas? Dúvidas? Bugs no R?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2026-07-21T11:13:13Z</dcterms:created>
  <dcterms:modified xsi:type="dcterms:W3CDTF">2026-07-21T11:13:13Z</dcterms:modified>
</cp:coreProperties>
</file>