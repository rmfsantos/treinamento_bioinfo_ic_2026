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1703040"/>
            <a:ext cx="80832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E94C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PRESS START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2122140"/>
            <a:ext cx="8083296" cy="792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240"/>
              </a:lnSpc>
              <a:buNone/>
            </a:pPr>
            <a:r>
              <a:rPr lang="en-US" sz="3840" b="1" dirty="0">
                <a:solidFill>
                  <a:srgbClr val="FF2E9A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GIT QUEST</a:t>
            </a:r>
            <a:endParaRPr lang="en-US" sz="3840" dirty="0"/>
          </a:p>
        </p:txBody>
      </p:sp>
      <p:sp>
        <p:nvSpPr>
          <p:cNvPr id="4" name="Text 2"/>
          <p:cNvSpPr/>
          <p:nvPr/>
        </p:nvSpPr>
        <p:spPr>
          <a:xfrm>
            <a:off x="530352" y="3143250"/>
            <a:ext cx="8083296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560" dirty="0">
                <a:solidFill>
                  <a:srgbClr val="7878A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 missao do bioinformata</a:t>
            </a:r>
            <a:endParaRPr lang="en-US" sz="15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619375"/>
            <a:ext cx="2489150" cy="1352550"/>
          </a:xfrm>
          <a:prstGeom prst="roundRect">
            <a:avLst>
              <a:gd name="adj" fmla="val 54085"/>
            </a:avLst>
          </a:prstGeom>
          <a:solidFill>
            <a:srgbClr val="1A1A2E">
              <a:alpha val="80000"/>
            </a:srgbClr>
          </a:solidFill>
          <a:ln w="28575">
            <a:solidFill>
              <a:srgbClr val="3AF7FF"/>
            </a:solidFill>
          </a:ln>
          <a:effectLst>
            <a:outerShdw sx="100000" sy="100000" kx="0" ky="0" algn="bl" rotWithShape="0" blurRad="101600" dist="50800" dir="16200000">
              <a:srgbClr val="0A0A0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27350" y="2619375"/>
            <a:ext cx="2489150" cy="1352550"/>
          </a:xfrm>
          <a:prstGeom prst="roundRect">
            <a:avLst>
              <a:gd name="adj" fmla="val 54085"/>
            </a:avLst>
          </a:prstGeom>
          <a:solidFill>
            <a:srgbClr val="1A1A2E">
              <a:alpha val="80000"/>
            </a:srgbClr>
          </a:solidFill>
          <a:ln w="28575">
            <a:solidFill>
              <a:srgbClr val="3AF7FF"/>
            </a:solidFill>
          </a:ln>
          <a:effectLst>
            <a:outerShdw sx="100000" sy="100000" kx="0" ky="0" algn="bl" rotWithShape="0" blurRad="101600" dist="50800" dir="16200000">
              <a:srgbClr val="0A0A0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45101" y="2619375"/>
            <a:ext cx="2489299" cy="1352550"/>
          </a:xfrm>
          <a:prstGeom prst="roundRect">
            <a:avLst>
              <a:gd name="adj" fmla="val 54085"/>
            </a:avLst>
          </a:prstGeom>
          <a:solidFill>
            <a:srgbClr val="1A1A2E">
              <a:alpha val="80000"/>
            </a:srgbClr>
          </a:solidFill>
          <a:ln w="28575">
            <a:solidFill>
              <a:srgbClr val="3AF7FF"/>
            </a:solidFill>
          </a:ln>
          <a:effectLst>
            <a:outerShdw sx="100000" sy="100000" kx="0" ky="0" algn="bl" rotWithShape="0" blurRad="101600" dist="50800" dir="16200000">
              <a:srgbClr val="0A0A0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1171575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3AF7FF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FASE 1: O QUE E GIT?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09600" y="1857375"/>
            <a:ext cx="7924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B8B8D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Git e o seu SAVE GAME: ele guarda cada versao do seu progresso (codigo) para voce nunca perder o jogo.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6775" y="2876550"/>
            <a:ext cx="2014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E9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Save Point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6775" y="3143250"/>
            <a:ext cx="197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878A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Registra cada mudanca, com data e autor.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584525" y="2876550"/>
            <a:ext cx="2014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E9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Load Game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84525" y="3143250"/>
            <a:ext cx="197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878A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Volta a qualquer versao anterior do arquivo.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02276" y="2876550"/>
            <a:ext cx="2014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E9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Co-op Mode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02276" y="3143250"/>
            <a:ext cx="197494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878A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Varios jogadores editam sem sobrescrever o progresso dos outros.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849636"/>
            <a:ext cx="3848100" cy="2076450"/>
          </a:xfrm>
          <a:prstGeom prst="roundRect">
            <a:avLst>
              <a:gd name="adj" fmla="val 35229"/>
            </a:avLst>
          </a:prstGeom>
          <a:solidFill>
            <a:srgbClr val="1A1A2E">
              <a:alpha val="80000"/>
            </a:srgbClr>
          </a:solidFill>
          <a:ln w="28575">
            <a:solidFill>
              <a:srgbClr val="3AF7FF"/>
            </a:solidFill>
          </a:ln>
          <a:effectLst>
            <a:outerShdw sx="100000" sy="100000" kx="0" ky="0" algn="bl" rotWithShape="0" blurRad="101600" dist="50800" dir="16200000">
              <a:srgbClr val="0A0A0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1849636"/>
            <a:ext cx="3848100" cy="2076450"/>
          </a:xfrm>
          <a:prstGeom prst="roundRect">
            <a:avLst>
              <a:gd name="adj" fmla="val 35229"/>
            </a:avLst>
          </a:prstGeom>
          <a:solidFill>
            <a:srgbClr val="1A1A2E">
              <a:alpha val="80000"/>
            </a:srgbClr>
          </a:solidFill>
          <a:ln w="28575">
            <a:solidFill>
              <a:srgbClr val="3AF7FF"/>
            </a:solidFill>
          </a:ln>
          <a:effectLst>
            <a:outerShdw sx="100000" sy="100000" kx="0" ky="0" algn="bl" rotWithShape="0" blurRad="101600" dist="50800" dir="16200000">
              <a:srgbClr val="0A0A0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798314"/>
            <a:ext cx="7924800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160" b="1" dirty="0">
                <a:solidFill>
                  <a:srgbClr val="3AF7FF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FASE 2: CRIANDO SEU PERSONAGEM</a:t>
            </a:r>
            <a:endParaRPr lang="en-US" sz="2160" dirty="0"/>
          </a:p>
        </p:txBody>
      </p:sp>
      <p:sp>
        <p:nvSpPr>
          <p:cNvPr id="5" name="Text 3"/>
          <p:cNvSpPr/>
          <p:nvPr/>
        </p:nvSpPr>
        <p:spPr>
          <a:xfrm>
            <a:off x="866775" y="2106811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2E9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1. Instalar (Ubuntu/Linux)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6775" y="2411611"/>
            <a:ext cx="3333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5F5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sudo apt update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6775" y="2868811"/>
            <a:ext cx="3333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5F5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sudo apt install git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943475" y="2106811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AF7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2. Nomear seu avatar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43475" y="2411611"/>
            <a:ext cx="3333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5F5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 config --global user.name "Seu Nome"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43475" y="3059311"/>
            <a:ext cx="3333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5F5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 config --global user.email "voce@email.com"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9600" y="4154686"/>
            <a:ext cx="80832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878A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 e feito uma vez por maquina, como criar sua ficha de personagem.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19957"/>
            <a:ext cx="3848100" cy="971550"/>
          </a:xfrm>
          <a:prstGeom prst="roundRect">
            <a:avLst>
              <a:gd name="adj" fmla="val 75294"/>
            </a:avLst>
          </a:prstGeom>
          <a:solidFill>
            <a:srgbClr val="1A1A2E">
              <a:alpha val="80000"/>
            </a:srgbClr>
          </a:solidFill>
          <a:ln w="28575">
            <a:solidFill>
              <a:srgbClr val="3AF7FF"/>
            </a:solidFill>
          </a:ln>
          <a:effectLst>
            <a:outerShdw sx="100000" sy="100000" kx="0" ky="0" algn="bl" rotWithShape="0" blurRad="101600" dist="50800" dir="16200000">
              <a:srgbClr val="0A0A0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405807"/>
            <a:ext cx="3848100" cy="971550"/>
          </a:xfrm>
          <a:prstGeom prst="roundRect">
            <a:avLst>
              <a:gd name="adj" fmla="val 75294"/>
            </a:avLst>
          </a:prstGeom>
          <a:solidFill>
            <a:srgbClr val="1A1A2E">
              <a:alpha val="80000"/>
            </a:srgbClr>
          </a:solidFill>
          <a:ln w="28575">
            <a:solidFill>
              <a:srgbClr val="3AF7FF"/>
            </a:solidFill>
          </a:ln>
          <a:effectLst>
            <a:outerShdw sx="100000" sy="100000" kx="0" ky="0" algn="bl" rotWithShape="0" blurRad="101600" dist="50800" dir="16200000">
              <a:srgbClr val="0A0A0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491657"/>
            <a:ext cx="3848100" cy="971550"/>
          </a:xfrm>
          <a:prstGeom prst="roundRect">
            <a:avLst>
              <a:gd name="adj" fmla="val 75294"/>
            </a:avLst>
          </a:prstGeom>
          <a:solidFill>
            <a:srgbClr val="1A1A2E">
              <a:alpha val="80000"/>
            </a:srgbClr>
          </a:solidFill>
          <a:ln w="28575">
            <a:solidFill>
              <a:srgbClr val="3AF7FF"/>
            </a:solidFill>
          </a:ln>
          <a:effectLst>
            <a:outerShdw sx="100000" sy="100000" kx="0" ky="0" algn="bl" rotWithShape="0" blurRad="101600" dist="50800" dir="16200000">
              <a:srgbClr val="0A0A0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86300" y="1268760"/>
            <a:ext cx="3848100" cy="3245793"/>
          </a:xfrm>
          <a:prstGeom prst="roundRect">
            <a:avLst>
              <a:gd name="adj" fmla="val 22537"/>
            </a:avLst>
          </a:prstGeom>
          <a:noFill/>
          <a:ln w="28575">
            <a:solidFill>
              <a:srgbClr val="3AF7FF"/>
            </a:solidFill>
          </a:ln>
          <a:effectLst>
            <a:outerShdw sx="100000" sy="100000" kx="0" ky="0" algn="bl" rotWithShape="0" blurRad="101600" dist="50800" dir="16200000">
              <a:srgbClr val="0A0A0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75" y="1297335"/>
            <a:ext cx="3790950" cy="31886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9600" y="628799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160" b="1" dirty="0">
                <a:solidFill>
                  <a:srgbClr val="3AF7FF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FASE 3: O COMBO ESSENCIAL</a:t>
            </a:r>
            <a:endParaRPr lang="en-US" sz="2160" dirty="0"/>
          </a:p>
        </p:txBody>
      </p:sp>
      <p:sp>
        <p:nvSpPr>
          <p:cNvPr id="8" name="Text 5"/>
          <p:cNvSpPr/>
          <p:nvPr/>
        </p:nvSpPr>
        <p:spPr>
          <a:xfrm>
            <a:off x="790575" y="1500932"/>
            <a:ext cx="3486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5F5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 add arquivo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90575" y="1920032"/>
            <a:ext cx="35558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878A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Seleciona o item para o inventario (staging).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90575" y="2586782"/>
            <a:ext cx="3486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5F5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 commit -m "msg"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90575" y="3005882"/>
            <a:ext cx="35558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878A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Confirma o save com uma descricao da fase.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90575" y="3672632"/>
            <a:ext cx="3486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5F5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 push origin master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90575" y="4091732"/>
            <a:ext cx="35558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878A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Sincroniza seu progresso na nuvem (GitHub).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946845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160" b="1" dirty="0">
                <a:solidFill>
                  <a:srgbClr val="3AF7FF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FASE 4: MAPA E INVENTARIO</a:t>
            </a:r>
            <a:endParaRPr lang="en-US" sz="2160" dirty="0"/>
          </a:p>
        </p:txBody>
      </p:sp>
      <p:sp>
        <p:nvSpPr>
          <p:cNvPr id="3" name="Text 1"/>
          <p:cNvSpPr/>
          <p:nvPr/>
        </p:nvSpPr>
        <p:spPr>
          <a:xfrm>
            <a:off x="609600" y="1586805"/>
            <a:ext cx="792480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2E9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git status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B8B8D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mostra o que mudou no seu mapa.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AF7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git rm / git mv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B8B8D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descarta ou renomeia itens do inventario.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E9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git checkout arquivo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B8B8D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recupera o save salvo na nuvem se voce falhar a missao.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4006155"/>
            <a:ext cx="80832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878A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GAME OVER se voce adicionar arquivos maiores que 50MB ao repositorio!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101155"/>
            <a:ext cx="3848100" cy="1581150"/>
          </a:xfrm>
          <a:prstGeom prst="roundRect">
            <a:avLst>
              <a:gd name="adj" fmla="val 46265"/>
            </a:avLst>
          </a:prstGeom>
          <a:solidFill>
            <a:srgbClr val="1A1A2E">
              <a:alpha val="80000"/>
            </a:srgbClr>
          </a:solidFill>
          <a:ln w="28575">
            <a:solidFill>
              <a:srgbClr val="3AF7FF"/>
            </a:solidFill>
          </a:ln>
          <a:effectLst>
            <a:outerShdw sx="100000" sy="100000" kx="0" ky="0" algn="bl" rotWithShape="0" blurRad="101600" dist="50800" dir="16200000">
              <a:srgbClr val="0A0A0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2101155"/>
            <a:ext cx="3848100" cy="1581150"/>
          </a:xfrm>
          <a:prstGeom prst="roundRect">
            <a:avLst>
              <a:gd name="adj" fmla="val 46265"/>
            </a:avLst>
          </a:prstGeom>
          <a:solidFill>
            <a:srgbClr val="1A1A2E">
              <a:alpha val="80000"/>
            </a:srgbClr>
          </a:solidFill>
          <a:ln w="28575">
            <a:solidFill>
              <a:srgbClr val="3AF7FF"/>
            </a:solidFill>
          </a:ln>
          <a:effectLst>
            <a:outerShdw sx="100000" sy="100000" kx="0" ky="0" algn="bl" rotWithShape="0" blurRad="101600" dist="50800" dir="16200000">
              <a:srgbClr val="0A0A0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1461195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160" b="1" dirty="0">
                <a:solidFill>
                  <a:srgbClr val="3AF7FF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FASE 5: MULTIPLAYER</a:t>
            </a:r>
            <a:endParaRPr lang="en-US" sz="2160" dirty="0"/>
          </a:p>
        </p:txBody>
      </p:sp>
      <p:sp>
        <p:nvSpPr>
          <p:cNvPr id="5" name="Text 3"/>
          <p:cNvSpPr/>
          <p:nvPr/>
        </p:nvSpPr>
        <p:spPr>
          <a:xfrm>
            <a:off x="866775" y="2358330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2E9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git clone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6775" y="2663130"/>
            <a:ext cx="333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878A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Baixa uma copia completa de um save de outro jogador.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6775" y="3120330"/>
            <a:ext cx="3333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5F5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 clone https://github.com/user/repo.git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943475" y="2358330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AF7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git pull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43475" y="2663130"/>
            <a:ext cx="333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878A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Sincroniza seu jogo com as atualizacoes mais recentes do servidor.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43475" y="3120330"/>
            <a:ext cx="3333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5F5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 pull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234505"/>
            <a:ext cx="3848100" cy="1657350"/>
          </a:xfrm>
          <a:prstGeom prst="roundRect">
            <a:avLst>
              <a:gd name="adj" fmla="val 44138"/>
            </a:avLst>
          </a:prstGeom>
          <a:solidFill>
            <a:srgbClr val="1A1A2E">
              <a:alpha val="80000"/>
            </a:srgbClr>
          </a:solidFill>
          <a:ln w="28575">
            <a:solidFill>
              <a:srgbClr val="3AF7FF"/>
            </a:solidFill>
          </a:ln>
          <a:effectLst>
            <a:outerShdw sx="100000" sy="100000" kx="0" ky="0" algn="bl" rotWithShape="0" blurRad="101600" dist="50800" dir="16200000">
              <a:srgbClr val="0A0A0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2234505"/>
            <a:ext cx="3848100" cy="1657350"/>
          </a:xfrm>
          <a:prstGeom prst="roundRect">
            <a:avLst>
              <a:gd name="adj" fmla="val 44138"/>
            </a:avLst>
          </a:prstGeom>
          <a:solidFill>
            <a:srgbClr val="1A1A2E">
              <a:alpha val="80000"/>
            </a:srgbClr>
          </a:solidFill>
          <a:ln w="28575">
            <a:solidFill>
              <a:srgbClr val="3AF7FF"/>
            </a:solidFill>
          </a:ln>
          <a:effectLst>
            <a:outerShdw sx="100000" sy="100000" kx="0" ky="0" algn="bl" rotWithShape="0" blurRad="101600" dist="50800" dir="16200000">
              <a:srgbClr val="0A0A0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832545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160" b="1" dirty="0">
                <a:solidFill>
                  <a:srgbClr val="FFE94C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BOSS FIGHT: GIT vs GITHUB</a:t>
            </a:r>
            <a:endParaRPr lang="en-US" sz="2160" dirty="0"/>
          </a:p>
        </p:txBody>
      </p:sp>
      <p:sp>
        <p:nvSpPr>
          <p:cNvPr id="5" name="Text 3"/>
          <p:cNvSpPr/>
          <p:nvPr/>
        </p:nvSpPr>
        <p:spPr>
          <a:xfrm>
            <a:off x="609600" y="1472505"/>
            <a:ext cx="7924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B8B8D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Nao sao o mesmo personagem! Git e o motor do jogo no seu PC; GitHub e o servidor online onde voce salva e joga com a galera.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66775" y="2491680"/>
            <a:ext cx="340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2E9A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GIT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6775" y="2758380"/>
            <a:ext cx="33337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B8B8D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Roda localmente no seu computador</a:t>
            </a:r>
            <a:endParaRPr lang="en-US" sz="105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B8B8D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Software de controle de versao</a:t>
            </a:r>
            <a:endParaRPr lang="en-US" sz="105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B8B8D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Funciona offline</a:t>
            </a:r>
            <a:endParaRPr lang="en-US" sz="105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B8B8D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Codigo aberto (Linux Foundation)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943475" y="2491680"/>
            <a:ext cx="340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AF7FF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GITHUB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943475" y="2758380"/>
            <a:ext cx="33337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B8B8D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Plataforma na nuvem (site)</a:t>
            </a:r>
            <a:endParaRPr lang="en-US" sz="105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B8B8D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Hospeda repositorios Git</a:t>
            </a:r>
            <a:endParaRPr lang="en-US" sz="105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B8B8D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Precisa de internet</a:t>
            </a:r>
            <a:endParaRPr lang="en-US" sz="105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B8B8D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Adiciona PR, Issues e colaboracao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9600" y="4120455"/>
            <a:ext cx="80832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878A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Resumo: voce usa Git para jogar sozinho; conecta ao GitHub para jogar em equipe.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278261"/>
            <a:ext cx="3848100" cy="1085850"/>
          </a:xfrm>
          <a:prstGeom prst="roundRect">
            <a:avLst>
              <a:gd name="adj" fmla="val 67368"/>
            </a:avLst>
          </a:prstGeom>
          <a:solidFill>
            <a:srgbClr val="1A1A2E">
              <a:alpha val="80000"/>
            </a:srgbClr>
          </a:solidFill>
          <a:ln w="28575">
            <a:solidFill>
              <a:srgbClr val="3AF7FF"/>
            </a:solidFill>
          </a:ln>
          <a:effectLst>
            <a:outerShdw sx="100000" sy="100000" kx="0" ky="0" algn="bl" rotWithShape="0" blurRad="101600" dist="50800" dir="16200000">
              <a:srgbClr val="0A0A0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2278261"/>
            <a:ext cx="3848100" cy="1085850"/>
          </a:xfrm>
          <a:prstGeom prst="roundRect">
            <a:avLst>
              <a:gd name="adj" fmla="val 67368"/>
            </a:avLst>
          </a:prstGeom>
          <a:solidFill>
            <a:srgbClr val="1A1A2E">
              <a:alpha val="80000"/>
            </a:srgbClr>
          </a:solidFill>
          <a:ln w="28575">
            <a:solidFill>
              <a:srgbClr val="3AF7FF"/>
            </a:solidFill>
          </a:ln>
          <a:effectLst>
            <a:outerShdw sx="100000" sy="100000" kx="0" ky="0" algn="bl" rotWithShape="0" blurRad="101600" dist="50800" dir="16200000">
              <a:srgbClr val="0A0A0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592711"/>
            <a:ext cx="3848100" cy="1085850"/>
          </a:xfrm>
          <a:prstGeom prst="roundRect">
            <a:avLst>
              <a:gd name="adj" fmla="val 67368"/>
            </a:avLst>
          </a:prstGeom>
          <a:solidFill>
            <a:srgbClr val="1A1A2E">
              <a:alpha val="80000"/>
            </a:srgbClr>
          </a:solidFill>
          <a:ln w="28575">
            <a:solidFill>
              <a:srgbClr val="3AF7FF"/>
            </a:solidFill>
          </a:ln>
          <a:effectLst>
            <a:outerShdw sx="100000" sy="100000" kx="0" ky="0" algn="bl" rotWithShape="0" blurRad="101600" dist="50800" dir="16200000">
              <a:srgbClr val="0A0A0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86300" y="3592711"/>
            <a:ext cx="3848100" cy="1085850"/>
          </a:xfrm>
          <a:prstGeom prst="roundRect">
            <a:avLst>
              <a:gd name="adj" fmla="val 67368"/>
            </a:avLst>
          </a:prstGeom>
          <a:solidFill>
            <a:srgbClr val="1A1A2E">
              <a:alpha val="80000"/>
            </a:srgbClr>
          </a:solidFill>
          <a:ln w="28575">
            <a:solidFill>
              <a:srgbClr val="3AF7FF"/>
            </a:solidFill>
          </a:ln>
          <a:effectLst>
            <a:outerShdw sx="100000" sy="100000" kx="0" ky="0" algn="bl" rotWithShape="0" blurRad="101600" dist="50800" dir="16200000">
              <a:srgbClr val="0A0A0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464939"/>
            <a:ext cx="7924800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160" b="1" dirty="0">
                <a:solidFill>
                  <a:srgbClr val="FFE94C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POWER-UP: GIT NA BIOINFORMATICA</a:t>
            </a:r>
            <a:endParaRPr lang="en-US" sz="2160" dirty="0"/>
          </a:p>
        </p:txBody>
      </p:sp>
      <p:sp>
        <p:nvSpPr>
          <p:cNvPr id="7" name="Text 5"/>
          <p:cNvSpPr/>
          <p:nvPr/>
        </p:nvSpPr>
        <p:spPr>
          <a:xfrm>
            <a:off x="609600" y="1516261"/>
            <a:ext cx="7924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B8B8D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Sem controle de versao, pipelines de analise ficam bagunçados como "script_final_FINAL_v2.R". Git resolve isso.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8675" y="2497336"/>
            <a:ext cx="34781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2E9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Reprodutibilidade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8675" y="2764036"/>
            <a:ext cx="3409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878A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Qualquer pessoa clona seu pipeline e reproduz sua analise exatamente.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05375" y="2497336"/>
            <a:ext cx="34781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AF7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Colaboracao em equipe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05375" y="2764036"/>
            <a:ext cx="3409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878A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Alunos e orientadores trabalham no mesmo pipeline sem sobrescrever o trabalho um do outro.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8675" y="3811786"/>
            <a:ext cx="34781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E9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Backup na nuvem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8675" y="4078486"/>
            <a:ext cx="3409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878A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Scripts de QIIME2, DADA2 e R nunca se perdem se o computador falhar.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05375" y="3811786"/>
            <a:ext cx="34781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2E9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Ciencia aberta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05375" y="4078486"/>
            <a:ext cx="3409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878A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Publicar codigo no GitHub aumenta visibilidade e credibilidade do artigo.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38400" y="1558379"/>
            <a:ext cx="4267200" cy="3657600"/>
          </a:xfrm>
          <a:prstGeom prst="roundRect">
            <a:avLst>
              <a:gd name="adj" fmla="val 20000"/>
            </a:avLst>
          </a:prstGeom>
          <a:noFill/>
          <a:ln w="28575">
            <a:solidFill>
              <a:srgbClr val="3AF7FF"/>
            </a:solidFill>
          </a:ln>
          <a:effectLst>
            <a:outerShdw sx="100000" sy="100000" kx="0" ky="0" algn="bl" rotWithShape="0" blurRad="101600" dist="50800" dir="16200000">
              <a:srgbClr val="0A0A0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6975" y="1586954"/>
            <a:ext cx="4210050" cy="3600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0352" y="-72479"/>
            <a:ext cx="80832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FE94C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NOVA MISSAO DESBLOQUEADA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09600" y="232321"/>
            <a:ext cx="7924800" cy="1097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2880" b="1" dirty="0">
                <a:solidFill>
                  <a:srgbClr val="3AF7FF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Branches e Pull Requests</a:t>
            </a:r>
            <a:endParaRPr lang="en-US" sz="28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805857"/>
            <a:ext cx="3848100" cy="1200150"/>
          </a:xfrm>
          <a:prstGeom prst="roundRect">
            <a:avLst>
              <a:gd name="adj" fmla="val 60952"/>
            </a:avLst>
          </a:prstGeom>
          <a:solidFill>
            <a:srgbClr val="1A1A2E">
              <a:alpha val="80000"/>
            </a:srgbClr>
          </a:solidFill>
          <a:ln w="28575">
            <a:solidFill>
              <a:srgbClr val="3AF7FF"/>
            </a:solidFill>
          </a:ln>
          <a:effectLst>
            <a:outerShdw sx="100000" sy="100000" kx="0" ky="0" algn="bl" rotWithShape="0" blurRad="101600" dist="50800" dir="16200000">
              <a:srgbClr val="0A0A0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1599456"/>
            <a:ext cx="3848100" cy="2584400"/>
          </a:xfrm>
          <a:prstGeom prst="roundRect">
            <a:avLst>
              <a:gd name="adj" fmla="val 28305"/>
            </a:avLst>
          </a:prstGeom>
          <a:noFill/>
          <a:ln w="28575">
            <a:solidFill>
              <a:srgbClr val="3AF7FF"/>
            </a:solidFill>
          </a:ln>
          <a:effectLst>
            <a:outerShdw sx="100000" sy="100000" kx="0" ky="0" algn="bl" rotWithShape="0" blurRad="101600" dist="50800" dir="16200000">
              <a:srgbClr val="0A0A0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75" y="1628031"/>
            <a:ext cx="3790950" cy="25272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600" y="959495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160" b="1" dirty="0">
                <a:solidFill>
                  <a:srgbClr val="3AF7FF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O QUE E UMA BRANCH?</a:t>
            </a:r>
            <a:endParaRPr lang="en-US" sz="2160" dirty="0"/>
          </a:p>
        </p:txBody>
      </p:sp>
      <p:sp>
        <p:nvSpPr>
          <p:cNvPr id="6" name="Text 3"/>
          <p:cNvSpPr/>
          <p:nvPr/>
        </p:nvSpPr>
        <p:spPr>
          <a:xfrm>
            <a:off x="609600" y="1777157"/>
            <a:ext cx="38481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B8B8D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Uma branch e uma fase bonus paralela: voce testa algo novo sem estragar o save principal do jogo.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66775" y="3063032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2E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 checkout -b equipe-N-bbduk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6775" y="3367832"/>
            <a:ext cx="333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878A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Cria e ja entra numa nova fase para sua equipe jogar sem afetar as demais.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306836"/>
            <a:ext cx="1866900" cy="704850"/>
          </a:xfrm>
          <a:prstGeom prst="roundRect">
            <a:avLst>
              <a:gd name="adj" fmla="val 103784"/>
            </a:avLst>
          </a:prstGeom>
          <a:solidFill>
            <a:srgbClr val="1A1A2E">
              <a:alpha val="80000"/>
            </a:srgbClr>
          </a:solidFill>
          <a:ln w="28575">
            <a:solidFill>
              <a:srgbClr val="3AF7FF"/>
            </a:solidFill>
          </a:ln>
          <a:effectLst>
            <a:outerShdw sx="100000" sy="100000" kx="0" ky="0" algn="bl" rotWithShape="0" blurRad="101600" dist="50800" dir="16200000">
              <a:srgbClr val="0A0A0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628900" y="2306836"/>
            <a:ext cx="1866900" cy="704850"/>
          </a:xfrm>
          <a:prstGeom prst="roundRect">
            <a:avLst>
              <a:gd name="adj" fmla="val 103784"/>
            </a:avLst>
          </a:prstGeom>
          <a:solidFill>
            <a:srgbClr val="1A1A2E">
              <a:alpha val="80000"/>
            </a:srgbClr>
          </a:solidFill>
          <a:ln w="28575">
            <a:solidFill>
              <a:srgbClr val="3AF7FF"/>
            </a:solidFill>
          </a:ln>
          <a:effectLst>
            <a:outerShdw sx="100000" sy="100000" kx="0" ky="0" algn="bl" rotWithShape="0" blurRad="101600" dist="50800" dir="16200000">
              <a:srgbClr val="0A0A0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48200" y="2306836"/>
            <a:ext cx="1866900" cy="704850"/>
          </a:xfrm>
          <a:prstGeom prst="roundRect">
            <a:avLst>
              <a:gd name="adj" fmla="val 103784"/>
            </a:avLst>
          </a:prstGeom>
          <a:solidFill>
            <a:srgbClr val="1A1A2E">
              <a:alpha val="80000"/>
            </a:srgbClr>
          </a:solidFill>
          <a:ln w="28575">
            <a:solidFill>
              <a:srgbClr val="3AF7FF"/>
            </a:solidFill>
          </a:ln>
          <a:effectLst>
            <a:outerShdw sx="100000" sy="100000" kx="0" ky="0" algn="bl" rotWithShape="0" blurRad="101600" dist="50800" dir="16200000">
              <a:srgbClr val="0A0A0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67500" y="2306836"/>
            <a:ext cx="1866900" cy="704850"/>
          </a:xfrm>
          <a:prstGeom prst="roundRect">
            <a:avLst>
              <a:gd name="adj" fmla="val 103784"/>
            </a:avLst>
          </a:prstGeom>
          <a:solidFill>
            <a:srgbClr val="1A1A2E">
              <a:alpha val="80000"/>
            </a:srgbClr>
          </a:solidFill>
          <a:ln w="28575">
            <a:solidFill>
              <a:srgbClr val="3AF7FF"/>
            </a:solidFill>
          </a:ln>
          <a:effectLst>
            <a:outerShdw sx="100000" sy="100000" kx="0" ky="0" algn="bl" rotWithShape="0" blurRad="101600" dist="50800" dir="16200000">
              <a:srgbClr val="0A0A0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1712565"/>
            <a:ext cx="8083296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920" b="1" dirty="0">
                <a:solidFill>
                  <a:srgbClr val="3AF7FF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MISSAO: BBDuk NA SUA BRANCH</a:t>
            </a:r>
            <a:endParaRPr lang="en-US" sz="1920" dirty="0"/>
          </a:p>
        </p:txBody>
      </p:sp>
      <p:sp>
        <p:nvSpPr>
          <p:cNvPr id="7" name="Text 5"/>
          <p:cNvSpPr/>
          <p:nvPr/>
        </p:nvSpPr>
        <p:spPr>
          <a:xfrm>
            <a:off x="790575" y="2487811"/>
            <a:ext cx="15350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5F5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1. Criar branch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90575" y="2678311"/>
            <a:ext cx="15350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7878A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equipe-N-bbduk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809875" y="2487811"/>
            <a:ext cx="15350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5F5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2. Rodar BBDuk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809875" y="2678311"/>
            <a:ext cx="15350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7878A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nos dados ja baixados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29175" y="2487811"/>
            <a:ext cx="15350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5F5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3. Commit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29175" y="2678311"/>
            <a:ext cx="15350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7878A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dos relatorios gerados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48475" y="2487811"/>
            <a:ext cx="15350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5F5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4. Push + PR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48475" y="2678311"/>
            <a:ext cx="15350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7878A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para o professor revisar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9600" y="3240286"/>
            <a:ext cx="80832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878A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Consulte o guia completo passo a passo enviado no material da aula.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86300" y="1303288"/>
            <a:ext cx="3848100" cy="3176736"/>
          </a:xfrm>
          <a:prstGeom prst="roundRect">
            <a:avLst>
              <a:gd name="adj" fmla="val 23027"/>
            </a:avLst>
          </a:prstGeom>
          <a:noFill/>
          <a:ln w="28575">
            <a:solidFill>
              <a:srgbClr val="3AF7FF"/>
            </a:solidFill>
          </a:ln>
          <a:effectLst>
            <a:outerShdw sx="100000" sy="100000" kx="0" ky="0" algn="bl" rotWithShape="0" blurRad="101600" dist="50800" dir="16200000">
              <a:srgbClr val="0A0A0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75" y="1331863"/>
            <a:ext cx="3790950" cy="31195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663327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160" b="1" dirty="0">
                <a:solidFill>
                  <a:srgbClr val="3AF7FF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O QUE E UM PULL REQUEST?</a:t>
            </a:r>
            <a:endParaRPr lang="en-US" sz="2160" dirty="0"/>
          </a:p>
        </p:txBody>
      </p:sp>
      <p:sp>
        <p:nvSpPr>
          <p:cNvPr id="5" name="Text 2"/>
          <p:cNvSpPr/>
          <p:nvPr/>
        </p:nvSpPr>
        <p:spPr>
          <a:xfrm>
            <a:off x="609600" y="1881932"/>
            <a:ext cx="38481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B8B8D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 como pedir a aprovacao do mestre do jogo antes de avancar de fase: voce propoe, o professor revisa e libera o proximo nivel.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09600" y="2910632"/>
            <a:ext cx="38481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B8B8D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Clique em 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2E9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Compare and pull request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B8B8D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apos o push.</a:t>
            </a:r>
            <a:endParaRPr lang="en-US" sz="105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B8B8D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Escreva um titulo e descreva o que foi feito.</a:t>
            </a:r>
            <a:endParaRPr lang="en-US" sz="105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B8B8D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Clique em 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AF7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Create pull request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B8B8D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</a:t>
            </a:r>
            <a:endParaRPr lang="en-US" sz="105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B8B8D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Espere a aprovacao antes do merge.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444055"/>
            <a:ext cx="3848100" cy="895350"/>
          </a:xfrm>
          <a:prstGeom prst="roundRect">
            <a:avLst>
              <a:gd name="adj" fmla="val 81702"/>
            </a:avLst>
          </a:prstGeom>
          <a:solidFill>
            <a:srgbClr val="1A1A2E">
              <a:alpha val="80000"/>
            </a:srgbClr>
          </a:solidFill>
          <a:ln w="28575">
            <a:solidFill>
              <a:srgbClr val="3AF7FF"/>
            </a:solidFill>
          </a:ln>
          <a:effectLst>
            <a:outerShdw sx="100000" sy="100000" kx="0" ky="0" algn="bl" rotWithShape="0" blurRad="101600" dist="50800" dir="16200000">
              <a:srgbClr val="0A0A0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2444055"/>
            <a:ext cx="3848100" cy="895350"/>
          </a:xfrm>
          <a:prstGeom prst="roundRect">
            <a:avLst>
              <a:gd name="adj" fmla="val 81702"/>
            </a:avLst>
          </a:prstGeom>
          <a:solidFill>
            <a:srgbClr val="1A1A2E">
              <a:alpha val="80000"/>
            </a:srgbClr>
          </a:solidFill>
          <a:ln w="28575">
            <a:solidFill>
              <a:srgbClr val="3AF7FF"/>
            </a:solidFill>
          </a:ln>
          <a:effectLst>
            <a:outerShdw sx="100000" sy="100000" kx="0" ky="0" algn="bl" rotWithShape="0" blurRad="101600" dist="50800" dir="16200000">
              <a:srgbClr val="0A0A0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1804095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160" b="1" dirty="0">
                <a:solidFill>
                  <a:srgbClr val="3AF7FF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ADICIONAR NPC (PROFESSOR)</a:t>
            </a:r>
            <a:endParaRPr lang="en-US" sz="2160" dirty="0"/>
          </a:p>
        </p:txBody>
      </p:sp>
      <p:sp>
        <p:nvSpPr>
          <p:cNvPr id="5" name="Text 3"/>
          <p:cNvSpPr/>
          <p:nvPr/>
        </p:nvSpPr>
        <p:spPr>
          <a:xfrm>
            <a:off x="866775" y="2701230"/>
            <a:ext cx="340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B8B8D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Settings, Collaborators, Add people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943475" y="2701230"/>
            <a:ext cx="333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B8B8D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Digite o usuario/e-mail e confirme o convite, ele precisa ser aceito por e-mail.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3737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160" b="1" dirty="0">
                <a:solidFill>
                  <a:srgbClr val="3AF7FF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DICAS DE SOBREVIVENCIA</a:t>
            </a:r>
            <a:endParaRPr lang="en-US" sz="2160" dirty="0"/>
          </a:p>
        </p:txBody>
      </p:sp>
      <p:sp>
        <p:nvSpPr>
          <p:cNvPr id="3" name="Text 1"/>
          <p:cNvSpPr/>
          <p:nvPr/>
        </p:nvSpPr>
        <p:spPr>
          <a:xfrm>
            <a:off x="609600" y="1977330"/>
            <a:ext cx="792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B8B8D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Nunca adicione arquivos maiores que 50MB ao repositorio.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B8B8D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Nao clone um repositorio dentro de outro.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B8B8D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Nao tenha medo de pesquisar, Git tem milhares de tutoriais online.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1893540"/>
            <a:ext cx="80832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E94C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VICTORY!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2236440"/>
            <a:ext cx="8083296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80"/>
              </a:lnSpc>
              <a:buNone/>
            </a:pPr>
            <a:r>
              <a:rPr lang="en-US" sz="3120" b="1" dirty="0">
                <a:solidFill>
                  <a:srgbClr val="FF2E9A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GG, EQUIPES!</a:t>
            </a:r>
            <a:endParaRPr lang="en-US" sz="3120" dirty="0"/>
          </a:p>
        </p:txBody>
      </p:sp>
      <p:sp>
        <p:nvSpPr>
          <p:cNvPr id="4" name="Text 2"/>
          <p:cNvSpPr/>
          <p:nvPr/>
        </p:nvSpPr>
        <p:spPr>
          <a:xfrm>
            <a:off x="530352" y="2983111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7878A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Agora e commitar, pushar e aprovar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2026-08-04T12:15:38Z</dcterms:created>
  <dcterms:modified xsi:type="dcterms:W3CDTF">2026-08-04T12:15:38Z</dcterms:modified>
</cp:coreProperties>
</file>